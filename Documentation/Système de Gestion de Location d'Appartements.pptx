
<file path=[Content_Types].xml><?xml version="1.0" encoding="utf-8"?>
<Types xmlns="http://schemas.openxmlformats.org/package/2006/content-types">
  <Default Extension="Default" ContentType="image/png"/>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322" r:id="rId5"/>
    <p:sldId id="321" r:id="rId6"/>
    <p:sldId id="314" r:id="rId7"/>
    <p:sldId id="320" r:id="rId8"/>
    <p:sldId id="318" r:id="rId9"/>
    <p:sldId id="319" r:id="rId10"/>
    <p:sldId id="316" r:id="rId11"/>
    <p:sldId id="323" r:id="rId12"/>
    <p:sldId id="315" r:id="rId13"/>
    <p:sldId id="312" r:id="rId14"/>
    <p:sldId id="325" r:id="rId15"/>
    <p:sldId id="330" r:id="rId16"/>
    <p:sldId id="317" r:id="rId17"/>
    <p:sldId id="327" r:id="rId18"/>
    <p:sldId id="313" r:id="rId19"/>
    <p:sldId id="324" r:id="rId20"/>
    <p:sldId id="328" r:id="rId21"/>
    <p:sldId id="332" r:id="rId22"/>
    <p:sldId id="331" r:id="rId23"/>
    <p:sldId id="333" r:id="rId24"/>
    <p:sldId id="310" r:id="rId25"/>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5388" autoAdjust="0"/>
  </p:normalViewPr>
  <p:slideViewPr>
    <p:cSldViewPr snapToGrid="0">
      <p:cViewPr>
        <p:scale>
          <a:sx n="75" d="100"/>
          <a:sy n="75" d="100"/>
        </p:scale>
        <p:origin x="612" y="54"/>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3990"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304D1E54-CEB5-487A-9C8E-A467A3D6E586}" type="datetime1">
              <a:rPr lang="fr-FR" smtClean="0"/>
              <a:t>25/04/2025</a:t>
            </a:fld>
            <a:endParaRPr lang="fr-FR" dirty="0"/>
          </a:p>
        </p:txBody>
      </p:sp>
      <p:sp>
        <p:nvSpPr>
          <p:cNvPr id="4" name="Espace réservé du pied de page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00AC623C-86E0-4A85-83FB-F4A716956FD4}" type="slidenum">
              <a:rPr lang="fr-FR" smtClean="0"/>
              <a:t>‹N°›</a:t>
            </a:fld>
            <a:endParaRPr lang="fr-FR" dirty="0"/>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fld id="{0320EF33-4155-4B10-9F22-7C135C3837D0}" type="datetime1">
              <a:rPr lang="fr-FR" smtClean="0"/>
              <a:pPr/>
              <a:t>25/04/2025</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C37D7554-D10C-4E29-B8E6-BB7111FA614F}" type="slidenum">
              <a:rPr lang="fr-FR" smtClean="0"/>
              <a:t>‹N°›</a:t>
            </a:fld>
            <a:endParaRPr lang="fr-FR" dirty="0"/>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a:t>
            </a:fld>
            <a:endParaRPr lang="fr-FR"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2</a:t>
            </a:fld>
            <a:endParaRPr lang="fr-FR" dirty="0"/>
          </a:p>
        </p:txBody>
      </p:sp>
    </p:spTree>
    <p:extLst>
      <p:ext uri="{BB962C8B-B14F-4D97-AF65-F5344CB8AC3E}">
        <p14:creationId xmlns:p14="http://schemas.microsoft.com/office/powerpoint/2010/main" val="3728847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3</a:t>
            </a:fld>
            <a:endParaRPr lang="fr-FR" dirty="0"/>
          </a:p>
        </p:txBody>
      </p:sp>
    </p:spTree>
    <p:extLst>
      <p:ext uri="{BB962C8B-B14F-4D97-AF65-F5344CB8AC3E}">
        <p14:creationId xmlns:p14="http://schemas.microsoft.com/office/powerpoint/2010/main" val="1998735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4</a:t>
            </a:fld>
            <a:endParaRPr lang="fr-FR" dirty="0"/>
          </a:p>
        </p:txBody>
      </p:sp>
    </p:spTree>
    <p:extLst>
      <p:ext uri="{BB962C8B-B14F-4D97-AF65-F5344CB8AC3E}">
        <p14:creationId xmlns:p14="http://schemas.microsoft.com/office/powerpoint/2010/main" val="2640935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5</a:t>
            </a:fld>
            <a:endParaRPr lang="fr-FR" dirty="0"/>
          </a:p>
        </p:txBody>
      </p:sp>
    </p:spTree>
    <p:extLst>
      <p:ext uri="{BB962C8B-B14F-4D97-AF65-F5344CB8AC3E}">
        <p14:creationId xmlns:p14="http://schemas.microsoft.com/office/powerpoint/2010/main" val="2423503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6</a:t>
            </a:fld>
            <a:endParaRPr lang="fr-FR" dirty="0"/>
          </a:p>
        </p:txBody>
      </p:sp>
    </p:spTree>
    <p:extLst>
      <p:ext uri="{BB962C8B-B14F-4D97-AF65-F5344CB8AC3E}">
        <p14:creationId xmlns:p14="http://schemas.microsoft.com/office/powerpoint/2010/main" val="1280030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7</a:t>
            </a:fld>
            <a:endParaRPr lang="fr-FR" dirty="0"/>
          </a:p>
        </p:txBody>
      </p:sp>
    </p:spTree>
    <p:extLst>
      <p:ext uri="{BB962C8B-B14F-4D97-AF65-F5344CB8AC3E}">
        <p14:creationId xmlns:p14="http://schemas.microsoft.com/office/powerpoint/2010/main" val="4264190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8</a:t>
            </a:fld>
            <a:endParaRPr lang="fr-FR" dirty="0"/>
          </a:p>
        </p:txBody>
      </p:sp>
    </p:spTree>
    <p:extLst>
      <p:ext uri="{BB962C8B-B14F-4D97-AF65-F5344CB8AC3E}">
        <p14:creationId xmlns:p14="http://schemas.microsoft.com/office/powerpoint/2010/main" val="2276087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9</a:t>
            </a:fld>
            <a:endParaRPr lang="fr-FR" dirty="0"/>
          </a:p>
        </p:txBody>
      </p:sp>
    </p:spTree>
    <p:extLst>
      <p:ext uri="{BB962C8B-B14F-4D97-AF65-F5344CB8AC3E}">
        <p14:creationId xmlns:p14="http://schemas.microsoft.com/office/powerpoint/2010/main" val="2881408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10</a:t>
            </a:fld>
            <a:endParaRPr lang="fr-FR" dirty="0"/>
          </a:p>
        </p:txBody>
      </p:sp>
    </p:spTree>
    <p:extLst>
      <p:ext uri="{BB962C8B-B14F-4D97-AF65-F5344CB8AC3E}">
        <p14:creationId xmlns:p14="http://schemas.microsoft.com/office/powerpoint/2010/main" val="4156299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11</a:t>
            </a:fld>
            <a:endParaRPr lang="fr-FR" dirty="0"/>
          </a:p>
        </p:txBody>
      </p:sp>
    </p:spTree>
    <p:extLst>
      <p:ext uri="{BB962C8B-B14F-4D97-AF65-F5344CB8AC3E}">
        <p14:creationId xmlns:p14="http://schemas.microsoft.com/office/powerpoint/2010/main" val="853257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13</a:t>
            </a:fld>
            <a:endParaRPr lang="fr-FR" dirty="0"/>
          </a:p>
        </p:txBody>
      </p:sp>
    </p:spTree>
    <p:extLst>
      <p:ext uri="{BB962C8B-B14F-4D97-AF65-F5344CB8AC3E}">
        <p14:creationId xmlns:p14="http://schemas.microsoft.com/office/powerpoint/2010/main" val="2506248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15</a:t>
            </a:fld>
            <a:endParaRPr lang="fr-FR" dirty="0"/>
          </a:p>
        </p:txBody>
      </p:sp>
    </p:spTree>
    <p:extLst>
      <p:ext uri="{BB962C8B-B14F-4D97-AF65-F5344CB8AC3E}">
        <p14:creationId xmlns:p14="http://schemas.microsoft.com/office/powerpoint/2010/main" val="4210311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16</a:t>
            </a:fld>
            <a:endParaRPr lang="fr-FR" dirty="0"/>
          </a:p>
        </p:txBody>
      </p:sp>
    </p:spTree>
    <p:extLst>
      <p:ext uri="{BB962C8B-B14F-4D97-AF65-F5344CB8AC3E}">
        <p14:creationId xmlns:p14="http://schemas.microsoft.com/office/powerpoint/2010/main" val="2180111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18</a:t>
            </a:fld>
            <a:endParaRPr lang="fr-FR" dirty="0"/>
          </a:p>
        </p:txBody>
      </p:sp>
    </p:spTree>
    <p:extLst>
      <p:ext uri="{BB962C8B-B14F-4D97-AF65-F5344CB8AC3E}">
        <p14:creationId xmlns:p14="http://schemas.microsoft.com/office/powerpoint/2010/main" val="1632923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C37D7554-D10C-4E29-B8E6-BB7111FA614F}" type="slidenum">
              <a:rPr lang="fr-FR" smtClean="0"/>
              <a:t>21</a:t>
            </a:fld>
            <a:endParaRPr lang="fr-FR" dirty="0"/>
          </a:p>
        </p:txBody>
      </p:sp>
    </p:spTree>
    <p:extLst>
      <p:ext uri="{BB962C8B-B14F-4D97-AF65-F5344CB8AC3E}">
        <p14:creationId xmlns:p14="http://schemas.microsoft.com/office/powerpoint/2010/main" val="1264164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3" name="Connecteur droit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8" name="Titr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fr-FR" sz="6000">
                <a:solidFill>
                  <a:schemeClr val="bg1"/>
                </a:solidFill>
              </a:defRPr>
            </a:lvl1pPr>
          </a:lstStyle>
          <a:p>
            <a:pPr rtl="0"/>
            <a:r>
              <a:rPr lang="fr-FR"/>
              <a:t>Cliquez pour ajouter un titre</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rdre du jour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fr-FR" sz="3600"/>
            </a:lvl1pPr>
          </a:lstStyle>
          <a:p>
            <a:pPr rtl="0"/>
            <a:r>
              <a:rPr lang="fr-FR"/>
              <a:t>Cliquez pour ajouter un titre</a:t>
            </a:r>
          </a:p>
        </p:txBody>
      </p:sp>
      <p:sp>
        <p:nvSpPr>
          <p:cNvPr id="2" name="Espace réservé du contenu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fr-FR" sz="2000"/>
            </a:lvl1pPr>
            <a:lvl2pPr marL="685800" indent="-228600">
              <a:lnSpc>
                <a:spcPct val="100000"/>
              </a:lnSpc>
              <a:spcBef>
                <a:spcPts val="0"/>
              </a:spcBef>
              <a:spcAft>
                <a:spcPts val="1200"/>
              </a:spcAft>
              <a:buFont typeface="Arial" panose="020B0604020202020204" pitchFamily="34" charset="0"/>
              <a:buChar char="•"/>
              <a:defRPr lang="fr-FR" sz="2000"/>
            </a:lvl2pPr>
            <a:lvl3pPr marL="1143000" indent="-228600">
              <a:spcBef>
                <a:spcPts val="0"/>
              </a:spcBef>
              <a:spcAft>
                <a:spcPts val="1200"/>
              </a:spcAft>
              <a:buFont typeface="Arial" panose="020B0604020202020204" pitchFamily="34" charset="0"/>
              <a:buChar char="•"/>
              <a:defRPr lang="fr-FR" sz="2000"/>
            </a:lvl3pPr>
            <a:lvl4pPr marL="1600200" indent="-228600">
              <a:spcBef>
                <a:spcPts val="0"/>
              </a:spcBef>
              <a:spcAft>
                <a:spcPts val="1200"/>
              </a:spcAft>
              <a:buFont typeface="Arial" panose="020B0604020202020204" pitchFamily="34" charset="0"/>
              <a:buChar char="•"/>
              <a:defRPr lang="fr-FR" sz="2000"/>
            </a:lvl4pPr>
            <a:lvl5pPr marL="2057400" indent="-228600">
              <a:spcBef>
                <a:spcPts val="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cxnSp>
        <p:nvCxnSpPr>
          <p:cNvPr id="3" name="Connecteur droit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9" name="Espace réservé du numéro de diapositive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imag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fr-FR" sz="3600"/>
            </a:lvl1pPr>
          </a:lstStyle>
          <a:p>
            <a:pPr rtl="0"/>
            <a:r>
              <a:rPr lang="fr-FR"/>
              <a:t>Cliquez pour ajouter un titre</a:t>
            </a:r>
          </a:p>
        </p:txBody>
      </p:sp>
      <p:sp>
        <p:nvSpPr>
          <p:cNvPr id="12" name="Espace réservé d’image 11">
            <a:extLst>
              <a:ext uri="{FF2B5EF4-FFF2-40B4-BE49-F238E27FC236}">
                <a16:creationId xmlns:a16="http://schemas.microsoft.com/office/drawing/2014/main" id="{2B92702B-E14C-886C-445A-349265F37592}"/>
              </a:ext>
            </a:extLst>
          </p:cNvPr>
          <p:cNvSpPr>
            <a:spLocks noGrp="1"/>
          </p:cNvSpPr>
          <p:nvPr>
            <p:ph type="pic" sz="quarter" idx="13"/>
          </p:nvPr>
        </p:nvSpPr>
        <p:spPr>
          <a:xfrm>
            <a:off x="6642169" y="-1"/>
            <a:ext cx="4635426" cy="6857999"/>
          </a:xfrm>
        </p:spPr>
        <p:txBody>
          <a:bodyPr rtlCol="0">
            <a:normAutofit/>
          </a:bodyPr>
          <a:lstStyle>
            <a:lvl1pPr marL="0" indent="0" algn="ctr">
              <a:buNone/>
              <a:defRPr lang="fr-FR" sz="2000"/>
            </a:lvl1pPr>
          </a:lstStyle>
          <a:p>
            <a:pPr rtl="0"/>
            <a:r>
              <a:rPr lang="fr-FR"/>
              <a:t>Cliquez sur l'icône pour ajouter une image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8" name="Connecteur droit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sous-tit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fr-FR" sz="3600"/>
            </a:lvl1pPr>
          </a:lstStyle>
          <a:p>
            <a:pPr rtl="0"/>
            <a:r>
              <a:rPr lang="fr-FR"/>
              <a:t>Cliquez pour ajouter un titre</a:t>
            </a:r>
          </a:p>
        </p:txBody>
      </p:sp>
      <p:sp>
        <p:nvSpPr>
          <p:cNvPr id="12" name="Espace réservé d’image 11">
            <a:extLst>
              <a:ext uri="{FF2B5EF4-FFF2-40B4-BE49-F238E27FC236}">
                <a16:creationId xmlns:a16="http://schemas.microsoft.com/office/drawing/2014/main" id="{2B92702B-E14C-886C-445A-349265F37592}"/>
              </a:ext>
            </a:extLst>
          </p:cNvPr>
          <p:cNvSpPr>
            <a:spLocks noGrp="1"/>
          </p:cNvSpPr>
          <p:nvPr>
            <p:ph type="pic" sz="quarter" idx="13"/>
          </p:nvPr>
        </p:nvSpPr>
        <p:spPr>
          <a:xfrm>
            <a:off x="915600" y="0"/>
            <a:ext cx="10361995" cy="3429000"/>
          </a:xfrm>
        </p:spPr>
        <p:txBody>
          <a:bodyPr rtlCol="0">
            <a:normAutofit/>
          </a:bodyPr>
          <a:lstStyle>
            <a:lvl1pPr marL="0" indent="0" algn="ctr">
              <a:buNone/>
              <a:defRPr lang="fr-FR" sz="2000"/>
            </a:lvl1pPr>
          </a:lstStyle>
          <a:p>
            <a:pPr rtl="0"/>
            <a:r>
              <a:rPr lang="fr-FR"/>
              <a:t>Cliquez sur l'icône pour ajouter une image</a:t>
            </a:r>
          </a:p>
        </p:txBody>
      </p:sp>
      <p:sp>
        <p:nvSpPr>
          <p:cNvPr id="6" name="Rectangle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7" name="Rectangle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8" name="Connecteur droit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Espace réservé du texte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fr-FR" sz="2000" spc="0" baseline="0">
                <a:solidFill>
                  <a:schemeClr val="tx1"/>
                </a:solidFill>
                <a:latin typeface="+mn-lt"/>
              </a:defRPr>
            </a:lvl1pPr>
          </a:lstStyle>
          <a:p>
            <a:pPr lvl="0" rtl="0"/>
            <a:r>
              <a:rPr lang="fr-FR"/>
              <a:t>Cliquez pour ajouter un sous-titre</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fr-FR" sz="3600"/>
            </a:lvl1pPr>
          </a:lstStyle>
          <a:p>
            <a:pPr rtl="0"/>
            <a:r>
              <a:rPr lang="fr-FR"/>
              <a:t>Cliquez pour ajouter un titre</a:t>
            </a:r>
          </a:p>
        </p:txBody>
      </p:sp>
      <p:sp>
        <p:nvSpPr>
          <p:cNvPr id="2" name="Espace réservé du contenu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fr-FR" sz="2000"/>
            </a:lvl1pPr>
            <a:lvl2pPr marL="685800" indent="-228600">
              <a:lnSpc>
                <a:spcPct val="100000"/>
              </a:lnSpc>
              <a:spcBef>
                <a:spcPts val="0"/>
              </a:spcBef>
              <a:spcAft>
                <a:spcPts val="1200"/>
              </a:spcAft>
              <a:buFont typeface="Arial" panose="020B0604020202020204" pitchFamily="34" charset="0"/>
              <a:buChar char="•"/>
              <a:defRPr lang="fr-FR" sz="2000"/>
            </a:lvl2pPr>
            <a:lvl3pPr marL="1143000" indent="-228600">
              <a:spcBef>
                <a:spcPts val="0"/>
              </a:spcBef>
              <a:spcAft>
                <a:spcPts val="1200"/>
              </a:spcAft>
              <a:buFont typeface="Arial" panose="020B0604020202020204" pitchFamily="34" charset="0"/>
              <a:buChar char="•"/>
              <a:defRPr lang="fr-FR" sz="2000"/>
            </a:lvl3pPr>
            <a:lvl4pPr marL="1600200" indent="-228600">
              <a:spcBef>
                <a:spcPts val="0"/>
              </a:spcBef>
              <a:spcAft>
                <a:spcPts val="1200"/>
              </a:spcAft>
              <a:buFont typeface="Arial" panose="020B0604020202020204" pitchFamily="34" charset="0"/>
              <a:buChar char="•"/>
              <a:defRPr lang="fr-FR" sz="2000"/>
            </a:lvl4pPr>
            <a:lvl5pPr marL="2057400" indent="-228600">
              <a:spcBef>
                <a:spcPts val="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cxnSp>
        <p:nvCxnSpPr>
          <p:cNvPr id="3" name="Connecteur droit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9" name="Espace réservé du numéro de diapositive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de la section">
    <p:bg>
      <p:bgPr>
        <a:solidFill>
          <a:schemeClr val="accent6"/>
        </a:solidFill>
        <a:effectLst/>
      </p:bgPr>
    </p:bg>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fr-FR">
                <a:solidFill>
                  <a:schemeClr val="bg1"/>
                </a:solidFill>
              </a:defRPr>
            </a:lvl1pPr>
          </a:lstStyle>
          <a:p>
            <a:pPr rtl="0"/>
            <a:r>
              <a:rPr lang="fr-FR"/>
              <a:t>Cliquez pour ajouter un titre</a:t>
            </a:r>
          </a:p>
        </p:txBody>
      </p:sp>
      <p:sp>
        <p:nvSpPr>
          <p:cNvPr id="5" name="Rectangle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6" name="Rectangle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7" name="Rectangle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9" name="Espace réservé du texte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fr-FR" sz="2000" spc="0" baseline="0">
                <a:solidFill>
                  <a:schemeClr val="bg1"/>
                </a:solidFill>
                <a:latin typeface="+mn-lt"/>
              </a:defRPr>
            </a:lvl1pPr>
          </a:lstStyle>
          <a:p>
            <a:pPr lvl="0" rtl="0"/>
            <a:r>
              <a:rPr lang="fr-FR"/>
              <a:t>Cliquez pour ajouter un sous-titre</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2 contenus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2" name="Espace réservé du contenu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fr-FR" sz="2000"/>
            </a:lvl1pPr>
            <a:lvl2pPr marL="228600" indent="-228600">
              <a:lnSpc>
                <a:spcPct val="100000"/>
              </a:lnSpc>
              <a:spcBef>
                <a:spcPts val="0"/>
              </a:spcBef>
              <a:spcAft>
                <a:spcPts val="1200"/>
              </a:spcAft>
              <a:buFont typeface="Arial" panose="020B0604020202020204" pitchFamily="34" charset="0"/>
              <a:buChar char="•"/>
              <a:defRPr lang="fr-FR" sz="2000"/>
            </a:lvl2pPr>
            <a:lvl3pPr marL="685800" indent="-228600">
              <a:spcBef>
                <a:spcPts val="1000"/>
              </a:spcBef>
              <a:spcAft>
                <a:spcPts val="1200"/>
              </a:spcAft>
              <a:buFont typeface="Arial" panose="020B0604020202020204" pitchFamily="34" charset="0"/>
              <a:buChar char="•"/>
              <a:defRPr lang="fr-FR" sz="2000"/>
            </a:lvl3pPr>
            <a:lvl4pPr marL="1143000" indent="-228600">
              <a:spcBef>
                <a:spcPts val="1000"/>
              </a:spcBef>
              <a:spcAft>
                <a:spcPts val="1200"/>
              </a:spcAft>
              <a:buFont typeface="Arial" panose="020B0604020202020204" pitchFamily="34" charset="0"/>
              <a:buChar char="•"/>
              <a:defRPr lang="fr-FR" sz="2000"/>
            </a:lvl4pPr>
            <a:lvl5pPr marL="1600200" indent="-228600">
              <a:spcBef>
                <a:spcPts val="100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fr-FR" sz="2000"/>
            </a:lvl1pPr>
            <a:lvl2pPr marL="228600" indent="-228600">
              <a:lnSpc>
                <a:spcPct val="100000"/>
              </a:lnSpc>
              <a:spcBef>
                <a:spcPts val="1000"/>
              </a:spcBef>
              <a:spcAft>
                <a:spcPts val="1200"/>
              </a:spcAft>
              <a:buFont typeface="Arial" panose="020B0604020202020204" pitchFamily="34" charset="0"/>
              <a:buChar char="•"/>
              <a:defRPr lang="fr-FR" sz="2000"/>
            </a:lvl2pPr>
            <a:lvl3pPr marL="685800" indent="-228600">
              <a:spcBef>
                <a:spcPts val="1000"/>
              </a:spcBef>
              <a:spcAft>
                <a:spcPts val="1200"/>
              </a:spcAft>
              <a:buFont typeface="Arial" panose="020B0604020202020204" pitchFamily="34" charset="0"/>
              <a:buChar char="•"/>
              <a:defRPr lang="fr-FR" sz="2000"/>
            </a:lvl3pPr>
            <a:lvl4pPr marL="1143000" indent="-228600">
              <a:spcBef>
                <a:spcPts val="1000"/>
              </a:spcBef>
              <a:spcAft>
                <a:spcPts val="1200"/>
              </a:spcAft>
              <a:buFont typeface="Arial" panose="020B0604020202020204" pitchFamily="34" charset="0"/>
              <a:buChar char="•"/>
              <a:defRPr lang="fr-FR" sz="2000"/>
            </a:lvl4pPr>
            <a:lvl5pPr marL="1600200" indent="-228600">
              <a:spcBef>
                <a:spcPts val="100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2 contenus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4" name="Espace réservé du contenu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fr-FR" sz="2000"/>
            </a:lvl1pPr>
            <a:lvl2pPr marL="457200" indent="-320040">
              <a:lnSpc>
                <a:spcPct val="100000"/>
              </a:lnSpc>
              <a:spcBef>
                <a:spcPts val="1000"/>
              </a:spcBef>
              <a:spcAft>
                <a:spcPts val="1200"/>
              </a:spcAft>
              <a:buFont typeface="+mj-lt"/>
              <a:buAutoNum type="alphaLcPeriod"/>
              <a:defRPr lang="fr-FR" sz="2000"/>
            </a:lvl2pPr>
            <a:lvl3pPr marL="914400" indent="-320040">
              <a:spcBef>
                <a:spcPts val="1000"/>
              </a:spcBef>
              <a:spcAft>
                <a:spcPts val="1200"/>
              </a:spcAft>
              <a:buFont typeface="+mj-lt"/>
              <a:buAutoNum type="arabicParenR"/>
              <a:defRPr lang="fr-FR" sz="2000"/>
            </a:lvl3pPr>
            <a:lvl4pPr marL="1371600" indent="-320040">
              <a:spcBef>
                <a:spcPts val="1000"/>
              </a:spcBef>
              <a:spcAft>
                <a:spcPts val="1200"/>
              </a:spcAft>
              <a:buFont typeface="+mj-lt"/>
              <a:buAutoNum type="alphaLcParenR"/>
              <a:defRPr lang="fr-FR" sz="2000"/>
            </a:lvl4pPr>
            <a:lvl5pPr marL="1828800" indent="-320040">
              <a:spcBef>
                <a:spcPts val="1000"/>
              </a:spcBef>
              <a:spcAft>
                <a:spcPts val="1200"/>
              </a:spcAft>
              <a:buFont typeface="+mj-lt"/>
              <a:buAutoNum type="romanLcPeriod"/>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2" name="Espace réservé du contenu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fr-FR" sz="2000"/>
            </a:lvl1pPr>
            <a:lvl2pPr marL="228600" indent="-228600">
              <a:lnSpc>
                <a:spcPct val="100000"/>
              </a:lnSpc>
              <a:spcBef>
                <a:spcPts val="1000"/>
              </a:spcBef>
              <a:spcAft>
                <a:spcPts val="1200"/>
              </a:spcAft>
              <a:buFont typeface="Arial" panose="020B0604020202020204" pitchFamily="34" charset="0"/>
              <a:buChar char="•"/>
              <a:defRPr lang="fr-FR" sz="2000"/>
            </a:lvl2pPr>
            <a:lvl3pPr marL="685800" indent="-228600">
              <a:spcBef>
                <a:spcPts val="1000"/>
              </a:spcBef>
              <a:spcAft>
                <a:spcPts val="1200"/>
              </a:spcAft>
              <a:buFont typeface="Arial" panose="020B0604020202020204" pitchFamily="34" charset="0"/>
              <a:buChar char="•"/>
              <a:defRPr lang="fr-FR" sz="2000"/>
            </a:lvl3pPr>
            <a:lvl4pPr marL="1143000" indent="-228600">
              <a:spcBef>
                <a:spcPts val="1000"/>
              </a:spcBef>
              <a:spcAft>
                <a:spcPts val="1200"/>
              </a:spcAft>
              <a:buFont typeface="Arial" panose="020B0604020202020204" pitchFamily="34" charset="0"/>
              <a:buChar char="•"/>
              <a:defRPr lang="fr-FR" sz="2000"/>
            </a:lvl4pPr>
            <a:lvl5pPr marL="1600200" indent="-228600">
              <a:spcBef>
                <a:spcPts val="100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image et contenu">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8" name="Espace réservé d’image 7">
            <a:extLst>
              <a:ext uri="{FF2B5EF4-FFF2-40B4-BE49-F238E27FC236}">
                <a16:creationId xmlns:a16="http://schemas.microsoft.com/office/drawing/2014/main" id="{357912CB-B8F8-1E65-094F-AD3220E6C79C}"/>
              </a:ext>
            </a:extLst>
          </p:cNvPr>
          <p:cNvSpPr>
            <a:spLocks noGrp="1"/>
          </p:cNvSpPr>
          <p:nvPr>
            <p:ph type="pic" sz="quarter" idx="12"/>
          </p:nvPr>
        </p:nvSpPr>
        <p:spPr>
          <a:xfrm>
            <a:off x="1503363" y="2061969"/>
            <a:ext cx="4592637" cy="4805362"/>
          </a:xfrm>
        </p:spPr>
        <p:txBody>
          <a:bodyPr rtlCol="0">
            <a:normAutofit/>
          </a:bodyPr>
          <a:lstStyle>
            <a:lvl1pPr marL="0" indent="0" algn="ctr">
              <a:buNone/>
              <a:defRPr lang="fr-FR" sz="2000"/>
            </a:lvl1pPr>
          </a:lstStyle>
          <a:p>
            <a:pPr rtl="0"/>
            <a:r>
              <a:rPr lang="fr-FR"/>
              <a:t>Cliquez sur l'icône pour ajouter une image</a:t>
            </a:r>
          </a:p>
        </p:txBody>
      </p:sp>
      <p:sp>
        <p:nvSpPr>
          <p:cNvPr id="12" name="Espace réservé du contenu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fr-FR" sz="2000"/>
            </a:lvl1pPr>
            <a:lvl2pPr marL="800100" indent="-342900">
              <a:lnSpc>
                <a:spcPct val="100000"/>
              </a:lnSpc>
              <a:spcBef>
                <a:spcPts val="1000"/>
              </a:spcBef>
              <a:spcAft>
                <a:spcPts val="1200"/>
              </a:spcAft>
              <a:buFont typeface="Arial" panose="020B0604020202020204" pitchFamily="34" charset="0"/>
              <a:buChar char="•"/>
              <a:defRPr lang="fr-FR" sz="2000"/>
            </a:lvl2pPr>
            <a:lvl3pPr marL="1257300" indent="-342900">
              <a:spcBef>
                <a:spcPts val="1000"/>
              </a:spcBef>
              <a:spcAft>
                <a:spcPts val="1200"/>
              </a:spcAft>
              <a:buFont typeface="Arial" panose="020B0604020202020204" pitchFamily="34" charset="0"/>
              <a:buChar char="•"/>
              <a:defRPr lang="fr-FR" sz="2000"/>
            </a:lvl3pPr>
            <a:lvl4pPr marL="1714500" indent="-342900">
              <a:spcBef>
                <a:spcPts val="1000"/>
              </a:spcBef>
              <a:spcAft>
                <a:spcPts val="1200"/>
              </a:spcAft>
              <a:buFont typeface="Arial" panose="020B0604020202020204" pitchFamily="34" charset="0"/>
              <a:buChar char="•"/>
              <a:defRPr lang="fr-FR" sz="2000"/>
            </a:lvl4pPr>
            <a:lvl5pPr marL="2171700" indent="-342900">
              <a:spcBef>
                <a:spcPts val="100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 name="Espace réservé du numéro de diapositive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contenu et tableau">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12" name="Espace réservé du contenu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fr-FR" sz="2000"/>
            </a:lvl1pPr>
            <a:lvl2pPr marL="800100" indent="-342900">
              <a:lnSpc>
                <a:spcPct val="100000"/>
              </a:lnSpc>
              <a:spcBef>
                <a:spcPts val="0"/>
              </a:spcBef>
              <a:spcAft>
                <a:spcPts val="1200"/>
              </a:spcAft>
              <a:buFont typeface="Arial" panose="020B0604020202020204" pitchFamily="34" charset="0"/>
              <a:buChar char="•"/>
              <a:defRPr lang="fr-FR" sz="2000"/>
            </a:lvl2pPr>
            <a:lvl3pPr marL="1257300" indent="-342900">
              <a:spcBef>
                <a:spcPts val="0"/>
              </a:spcBef>
              <a:spcAft>
                <a:spcPts val="1200"/>
              </a:spcAft>
              <a:buFont typeface="Arial" panose="020B0604020202020204" pitchFamily="34" charset="0"/>
              <a:buChar char="•"/>
              <a:defRPr lang="fr-FR" sz="2000"/>
            </a:lvl3pPr>
            <a:lvl4pPr marL="1714500" indent="-342900">
              <a:spcBef>
                <a:spcPts val="0"/>
              </a:spcBef>
              <a:spcAft>
                <a:spcPts val="1200"/>
              </a:spcAft>
              <a:buFont typeface="Arial" panose="020B0604020202020204" pitchFamily="34" charset="0"/>
              <a:buChar char="•"/>
              <a:defRPr lang="fr-FR" sz="2000"/>
            </a:lvl4pPr>
            <a:lvl5pPr marL="2171700" indent="-342900">
              <a:spcBef>
                <a:spcPts val="0"/>
              </a:spcBef>
              <a:spcAft>
                <a:spcPts val="1200"/>
              </a:spcAft>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4" name="Espace réservé du tableau 13">
            <a:extLst>
              <a:ext uri="{FF2B5EF4-FFF2-40B4-BE49-F238E27FC236}">
                <a16:creationId xmlns:a16="http://schemas.microsoft.com/office/drawing/2014/main" id="{EA708189-1532-1BDD-104F-4D8556146CEE}"/>
              </a:ext>
            </a:extLst>
          </p:cNvPr>
          <p:cNvSpPr>
            <a:spLocks noGrp="1"/>
          </p:cNvSpPr>
          <p:nvPr>
            <p:ph type="tbl" sz="quarter" idx="12"/>
          </p:nvPr>
        </p:nvSpPr>
        <p:spPr>
          <a:xfrm>
            <a:off x="5097463" y="2051976"/>
            <a:ext cx="6180137" cy="3867538"/>
          </a:xfrm>
        </p:spPr>
        <p:txBody>
          <a:bodyPr rtlCol="0">
            <a:normAutofit/>
          </a:bodyPr>
          <a:lstStyle>
            <a:lvl1pPr>
              <a:defRPr lang="fr-FR" sz="2000"/>
            </a:lvl1pPr>
          </a:lstStyle>
          <a:p>
            <a:pPr rtl="0"/>
            <a:r>
              <a:rPr lang="fr-FR"/>
              <a:t>Cliquez sur l'icône pour ajouter un tableau</a:t>
            </a:r>
          </a:p>
        </p:txBody>
      </p:sp>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Espace réservé du numéro de diapositive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2 contenus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8" name="Espace réservé du contenu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fr-FR" sz="2000"/>
            </a:lvl1pPr>
            <a:lvl2pPr>
              <a:lnSpc>
                <a:spcPct val="100000"/>
              </a:lnSpc>
              <a:spcAft>
                <a:spcPts val="600"/>
              </a:spcAft>
              <a:defRPr lang="fr-FR" sz="2000"/>
            </a:lvl2pPr>
            <a:lvl3pPr>
              <a:lnSpc>
                <a:spcPct val="100000"/>
              </a:lnSpc>
              <a:spcBef>
                <a:spcPts val="1000"/>
              </a:spcBef>
              <a:spcAft>
                <a:spcPts val="600"/>
              </a:spcAft>
              <a:defRPr lang="fr-FR" sz="2000"/>
            </a:lvl3pPr>
            <a:lvl4pPr>
              <a:lnSpc>
                <a:spcPct val="100000"/>
              </a:lnSpc>
              <a:spcAft>
                <a:spcPts val="1200"/>
              </a:spcAft>
              <a:defRPr lang="fr-FR" sz="2000"/>
            </a:lvl4pPr>
            <a:lvl5pP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1" name="Espace réservé du contenu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fr-FR" sz="2000"/>
            </a:lvl1pPr>
            <a:lvl2pPr marL="800100" indent="-342900">
              <a:lnSpc>
                <a:spcPct val="100000"/>
              </a:lnSpc>
              <a:spcAft>
                <a:spcPts val="600"/>
              </a:spcAft>
              <a:buFont typeface="Arial" panose="020B0604020202020204" pitchFamily="34" charset="0"/>
              <a:buChar char="•"/>
              <a:defRPr lang="fr-FR" sz="2000"/>
            </a:lvl2pPr>
            <a:lvl3pPr marL="1257300" indent="-342900">
              <a:buFont typeface="Arial" panose="020B0604020202020204" pitchFamily="34" charset="0"/>
              <a:buChar char="•"/>
              <a:defRPr lang="fr-FR" sz="2000"/>
            </a:lvl3pPr>
            <a:lvl4pPr marL="1714500" indent="-342900">
              <a:buFont typeface="Arial" panose="020B0604020202020204" pitchFamily="34" charset="0"/>
              <a:buChar char="•"/>
              <a:defRPr lang="fr-FR" sz="2000"/>
            </a:lvl4pPr>
            <a:lvl5pPr marL="2171700" indent="-342900">
              <a:buFont typeface="Arial" panose="020B0604020202020204" pitchFamily="34" charset="0"/>
              <a:buChar char="•"/>
              <a:defRPr lang="fr-FR" sz="2000"/>
            </a:lvl5pPr>
          </a:lstStyle>
          <a:p>
            <a:pPr lvl="0" rtl="0"/>
            <a:r>
              <a:rPr lang="fr-FR"/>
              <a:t>Cliquer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2" name="Espace réservé du numéro de diapositive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et tableau">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6" name="Connecteur droit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Titre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fr-FR" sz="3600"/>
            </a:lvl1pPr>
          </a:lstStyle>
          <a:p>
            <a:pPr rtl="0"/>
            <a:r>
              <a:rPr lang="fr-FR"/>
              <a:t>Cliquez pour ajouter un titre</a:t>
            </a:r>
          </a:p>
        </p:txBody>
      </p:sp>
      <p:sp>
        <p:nvSpPr>
          <p:cNvPr id="9" name="Espace réservé du tableau 8">
            <a:extLst>
              <a:ext uri="{FF2B5EF4-FFF2-40B4-BE49-F238E27FC236}">
                <a16:creationId xmlns:a16="http://schemas.microsoft.com/office/drawing/2014/main" id="{CB43608F-0A38-CF4A-4B3B-F1212E786FDE}"/>
              </a:ext>
            </a:extLst>
          </p:cNvPr>
          <p:cNvSpPr>
            <a:spLocks noGrp="1"/>
          </p:cNvSpPr>
          <p:nvPr>
            <p:ph type="tbl" sz="quarter" idx="10"/>
          </p:nvPr>
        </p:nvSpPr>
        <p:spPr>
          <a:xfrm>
            <a:off x="1487488" y="2057400"/>
            <a:ext cx="9790112" cy="3886200"/>
          </a:xfrm>
        </p:spPr>
        <p:txBody>
          <a:bodyPr rtlCol="0">
            <a:normAutofit/>
          </a:bodyPr>
          <a:lstStyle>
            <a:lvl1pPr>
              <a:defRPr lang="fr-FR" sz="2400"/>
            </a:lvl1pPr>
          </a:lstStyle>
          <a:p>
            <a:pPr rtl="0"/>
            <a:r>
              <a:rPr lang="fr-FR"/>
              <a:t>Cliquez sur l'icône pour ajouter un tableau</a:t>
            </a:r>
          </a:p>
        </p:txBody>
      </p:sp>
      <p:sp>
        <p:nvSpPr>
          <p:cNvPr id="2" name="Espace réservé du numéro de diapositive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erci 1">
    <p:bg>
      <p:bgPr>
        <a:solidFill>
          <a:schemeClr val="accent2">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cxnSp>
        <p:nvCxnSpPr>
          <p:cNvPr id="3" name="Connecteur droit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8" name="Titre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fr-FR" sz="6000">
                <a:solidFill>
                  <a:schemeClr val="bg1"/>
                </a:solidFill>
              </a:defRPr>
            </a:lvl1pPr>
          </a:lstStyle>
          <a:p>
            <a:pPr rtl="0"/>
            <a:r>
              <a:rPr lang="fr-FR"/>
              <a:t>Cliquez pour ajouter un titre</a:t>
            </a:r>
          </a:p>
        </p:txBody>
      </p:sp>
      <p:sp>
        <p:nvSpPr>
          <p:cNvPr id="10" name="Espace réservé du contenu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fr-FR" sz="2000">
                <a:solidFill>
                  <a:schemeClr val="bg1"/>
                </a:solidFill>
              </a:defRPr>
            </a:lvl1pPr>
            <a:lvl2pPr marL="742950" indent="-285750">
              <a:lnSpc>
                <a:spcPct val="100000"/>
              </a:lnSpc>
              <a:spcBef>
                <a:spcPts val="0"/>
              </a:spcBef>
              <a:spcAft>
                <a:spcPts val="1200"/>
              </a:spcAft>
              <a:buFont typeface="Arial" panose="020B0604020202020204" pitchFamily="34" charset="0"/>
              <a:buChar char="•"/>
              <a:defRPr lang="fr-FR" sz="1800">
                <a:solidFill>
                  <a:schemeClr val="bg1"/>
                </a:solidFill>
              </a:defRPr>
            </a:lvl2pPr>
            <a:lvl3pPr marL="1200150" indent="-285750">
              <a:lnSpc>
                <a:spcPct val="100000"/>
              </a:lnSpc>
              <a:spcBef>
                <a:spcPts val="0"/>
              </a:spcBef>
              <a:spcAft>
                <a:spcPts val="1200"/>
              </a:spcAft>
              <a:buFont typeface="Arial" panose="020B0604020202020204" pitchFamily="34" charset="0"/>
              <a:buChar char="•"/>
              <a:defRPr lang="fr-FR" sz="1600">
                <a:solidFill>
                  <a:schemeClr val="bg1"/>
                </a:solidFill>
              </a:defRPr>
            </a:lvl3pPr>
            <a:lvl4pPr marL="1657350" indent="-285750">
              <a:lnSpc>
                <a:spcPct val="100000"/>
              </a:lnSpc>
              <a:spcBef>
                <a:spcPts val="0"/>
              </a:spcBef>
              <a:spcAft>
                <a:spcPts val="1200"/>
              </a:spcAft>
              <a:buFont typeface="Arial" panose="020B0604020202020204" pitchFamily="34" charset="0"/>
              <a:buChar char="•"/>
              <a:defRPr lang="fr-FR" sz="1400">
                <a:solidFill>
                  <a:schemeClr val="bg1"/>
                </a:solidFill>
              </a:defRPr>
            </a:lvl4pPr>
            <a:lvl5pPr marL="2114550" indent="-285750">
              <a:lnSpc>
                <a:spcPct val="100000"/>
              </a:lnSpc>
              <a:spcBef>
                <a:spcPts val="0"/>
              </a:spcBef>
              <a:spcAft>
                <a:spcPts val="1200"/>
              </a:spcAft>
              <a:buFont typeface="Arial" panose="020B0604020202020204" pitchFamily="34" charset="0"/>
              <a:buChar char="•"/>
              <a:defRPr lang="fr-FR" sz="1400">
                <a:solidFill>
                  <a:schemeClr val="bg1"/>
                </a:solidFill>
              </a:defRPr>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fr-FR"/>
            </a:defPPr>
          </a:lstStyle>
          <a:p>
            <a:pPr rtl="0"/>
            <a:r>
              <a:rPr lang="fr-FR"/>
              <a:t>Modifiez le style du titre</a:t>
            </a:r>
          </a:p>
        </p:txBody>
      </p:sp>
      <p:sp>
        <p:nvSpPr>
          <p:cNvPr id="3" name="Espace réservé du texte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fr-FR" sz="900" b="0" cap="all" spc="150" baseline="0">
                <a:solidFill>
                  <a:schemeClr val="bg2">
                    <a:lumMod val="50000"/>
                  </a:schemeClr>
                </a:solidFill>
                <a:latin typeface="Univers Light" panose="020B0403020202020204" pitchFamily="34" charset="0"/>
              </a:defRPr>
            </a:lvl1pPr>
          </a:lstStyle>
          <a:p>
            <a:pPr rtl="0"/>
            <a:endParaRPr lang="fr-FR" dirty="0"/>
          </a:p>
        </p:txBody>
      </p:sp>
      <p:sp>
        <p:nvSpPr>
          <p:cNvPr id="5" name="Espace réservé du pied de page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fr-FR" sz="900" b="0" cap="all" spc="150" baseline="0">
                <a:solidFill>
                  <a:schemeClr val="bg2">
                    <a:lumMod val="50000"/>
                  </a:schemeClr>
                </a:solidFill>
                <a:latin typeface="Univers Light" panose="020B0403020202020204" pitchFamily="34" charset="0"/>
              </a:defRPr>
            </a:lvl1pPr>
          </a:lstStyle>
          <a:p>
            <a:pPr rtl="0"/>
            <a:endParaRPr lang="fr-FR" dirty="0"/>
          </a:p>
        </p:txBody>
      </p:sp>
      <p:sp>
        <p:nvSpPr>
          <p:cNvPr id="6" name="Espace réservé du numéro de diapositive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fr-FR" sz="1200" b="1" spc="150" baseline="0">
                <a:solidFill>
                  <a:schemeClr val="tx1"/>
                </a:solidFill>
                <a:latin typeface="+mn-lt"/>
              </a:defRPr>
            </a:lvl1pPr>
          </a:lstStyle>
          <a:p>
            <a:pPr rtl="0"/>
            <a:fld id="{18D65601-5AE2-46FC-B138-694DDD2B510D}" type="slidenum">
              <a:rPr lang="fr-FR" smtClean="0"/>
              <a:pPr/>
              <a:t>‹N°›</a:t>
            </a:fld>
            <a:endParaRPr lang="fr-FR" dirty="0"/>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Default"/><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454C9E-20FB-B999-9303-C71D1334BAD7}"/>
              </a:ext>
            </a:extLst>
          </p:cNvPr>
          <p:cNvSpPr>
            <a:spLocks noGrp="1"/>
          </p:cNvSpPr>
          <p:nvPr>
            <p:ph type="title"/>
          </p:nvPr>
        </p:nvSpPr>
        <p:spPr>
          <a:xfrm>
            <a:off x="1317615" y="2325187"/>
            <a:ext cx="8832225" cy="3135086"/>
          </a:xfrm>
        </p:spPr>
        <p:txBody>
          <a:bodyPr rtlCol="0"/>
          <a:lstStyle>
            <a:defPPr>
              <a:defRPr lang="fr-FR"/>
            </a:defPPr>
          </a:lstStyle>
          <a:p>
            <a:pPr rtl="0"/>
            <a:r>
              <a:rPr lang="fr-FR" dirty="0"/>
              <a:t>Système de Gestion de Location d'Appartements</a:t>
            </a:r>
          </a:p>
        </p:txBody>
      </p:sp>
      <p:sp>
        <p:nvSpPr>
          <p:cNvPr id="3" name="ZoneTexte 2">
            <a:extLst>
              <a:ext uri="{FF2B5EF4-FFF2-40B4-BE49-F238E27FC236}">
                <a16:creationId xmlns:a16="http://schemas.microsoft.com/office/drawing/2014/main" id="{F3298C6A-782A-D4C1-158A-82F391A618DB}"/>
              </a:ext>
            </a:extLst>
          </p:cNvPr>
          <p:cNvSpPr txBox="1"/>
          <p:nvPr/>
        </p:nvSpPr>
        <p:spPr>
          <a:xfrm>
            <a:off x="8386354" y="5917474"/>
            <a:ext cx="4885509" cy="523220"/>
          </a:xfrm>
          <a:prstGeom prst="rect">
            <a:avLst/>
          </a:prstGeom>
          <a:noFill/>
        </p:spPr>
        <p:txBody>
          <a:bodyPr wrap="square" rtlCol="0">
            <a:spAutoFit/>
          </a:bodyPr>
          <a:lstStyle/>
          <a:p>
            <a:r>
              <a:rPr lang="fr-FR" sz="2800" dirty="0">
                <a:solidFill>
                  <a:schemeClr val="bg1"/>
                </a:solidFill>
                <a:latin typeface="Tisa Offc Serif Pro (En-têtes)"/>
              </a:rPr>
              <a:t>AIT LAHCEN Achraf</a:t>
            </a:r>
          </a:p>
        </p:txBody>
      </p:sp>
    </p:spTree>
    <p:extLst>
      <p:ext uri="{BB962C8B-B14F-4D97-AF65-F5344CB8AC3E}">
        <p14:creationId xmlns:p14="http://schemas.microsoft.com/office/powerpoint/2010/main" val="337882249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D97761-0B88-A5E8-0B78-C39173D05F4D}"/>
              </a:ext>
            </a:extLst>
          </p:cNvPr>
          <p:cNvSpPr>
            <a:spLocks noGrp="1"/>
          </p:cNvSpPr>
          <p:nvPr>
            <p:ph type="title"/>
          </p:nvPr>
        </p:nvSpPr>
        <p:spPr>
          <a:xfrm>
            <a:off x="1455583" y="737115"/>
            <a:ext cx="4640418" cy="5407091"/>
          </a:xfrm>
        </p:spPr>
        <p:txBody>
          <a:bodyPr rtlCol="0"/>
          <a:lstStyle>
            <a:defPPr>
              <a:defRPr lang="fr-FR"/>
            </a:defPPr>
          </a:lstStyle>
          <a:p>
            <a:pPr rtl="0"/>
            <a:r>
              <a:rPr lang="fr-FR" dirty="0"/>
              <a:t>Ordre du jour</a:t>
            </a:r>
          </a:p>
        </p:txBody>
      </p:sp>
      <p:sp>
        <p:nvSpPr>
          <p:cNvPr id="3" name="Espace réservé du contenu 2">
            <a:extLst>
              <a:ext uri="{FF2B5EF4-FFF2-40B4-BE49-F238E27FC236}">
                <a16:creationId xmlns:a16="http://schemas.microsoft.com/office/drawing/2014/main" id="{02BA04E6-CD61-B962-4287-DEC1993C32D6}"/>
              </a:ext>
            </a:extLst>
          </p:cNvPr>
          <p:cNvSpPr>
            <a:spLocks noGrp="1"/>
          </p:cNvSpPr>
          <p:nvPr>
            <p:ph sz="quarter" idx="12"/>
          </p:nvPr>
        </p:nvSpPr>
        <p:spPr>
          <a:xfrm>
            <a:off x="6096000" y="737115"/>
            <a:ext cx="4972950" cy="5407091"/>
          </a:xfrm>
        </p:spPr>
        <p:txBody>
          <a:bodyPr rtlCol="0"/>
          <a:lstStyle>
            <a:defPPr>
              <a:defRPr lang="fr-FR"/>
            </a:defPPr>
          </a:lstStyle>
          <a:p>
            <a:pPr rtl="0"/>
            <a:r>
              <a:rPr lang="fr-FR" dirty="0"/>
              <a:t>Introduction</a:t>
            </a:r>
          </a:p>
          <a:p>
            <a:pPr rtl="0"/>
            <a:r>
              <a:rPr lang="fr-FR" dirty="0"/>
              <a:t>Problématique</a:t>
            </a:r>
          </a:p>
          <a:p>
            <a:pPr rtl="0"/>
            <a:r>
              <a:rPr lang="fr-FR" dirty="0"/>
              <a:t>Solution proposée</a:t>
            </a:r>
          </a:p>
          <a:p>
            <a:pPr rtl="0"/>
            <a:r>
              <a:rPr lang="fr-FR" dirty="0"/>
              <a:t>Aspects techniques</a:t>
            </a:r>
          </a:p>
          <a:p>
            <a:pPr rtl="0"/>
            <a:r>
              <a:rPr lang="fr-FR" dirty="0"/>
              <a:t>Pourquoi Java et </a:t>
            </a:r>
            <a:r>
              <a:rPr lang="fr-FR" dirty="0" err="1"/>
              <a:t>Angular</a:t>
            </a:r>
            <a:r>
              <a:rPr lang="fr-FR" dirty="0"/>
              <a:t> ?</a:t>
            </a:r>
          </a:p>
          <a:p>
            <a:pPr rtl="0"/>
            <a:r>
              <a:rPr lang="fr-FR" dirty="0"/>
              <a:t>Qu'est-ce que Spring Boot et Pourquoi l’utiliser ?</a:t>
            </a:r>
          </a:p>
          <a:p>
            <a:pPr rtl="0"/>
            <a:r>
              <a:rPr lang="fr-FR" dirty="0"/>
              <a:t>Différences entre Spring et Spring Boot</a:t>
            </a:r>
          </a:p>
          <a:p>
            <a:pPr rtl="0"/>
            <a:r>
              <a:rPr lang="fr-FR" dirty="0"/>
              <a:t>Conception</a:t>
            </a:r>
          </a:p>
          <a:p>
            <a:pPr rtl="0"/>
            <a:r>
              <a:rPr lang="fr-FR" dirty="0"/>
              <a:t>Conclusion</a:t>
            </a:r>
          </a:p>
        </p:txBody>
      </p:sp>
      <p:sp>
        <p:nvSpPr>
          <p:cNvPr id="4" name="Espace réservé du numéro de diapositive 3">
            <a:extLst>
              <a:ext uri="{FF2B5EF4-FFF2-40B4-BE49-F238E27FC236}">
                <a16:creationId xmlns:a16="http://schemas.microsoft.com/office/drawing/2014/main" id="{2CD4601E-33F5-5714-867D-A0B584DA7C11}"/>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a:t>2</a:t>
            </a:fld>
            <a:endParaRPr lang="fr-FR" dirty="0"/>
          </a:p>
        </p:txBody>
      </p:sp>
    </p:spTree>
    <p:extLst>
      <p:ext uri="{BB962C8B-B14F-4D97-AF65-F5344CB8AC3E}">
        <p14:creationId xmlns:p14="http://schemas.microsoft.com/office/powerpoint/2010/main" val="160745525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par>
                          <p:cTn id="36" fill="hold">
                            <p:stCondLst>
                              <p:cond delay="4000"/>
                            </p:stCondLst>
                            <p:childTnLst>
                              <p:par>
                                <p:cTn id="37" presetID="10" presetClass="entr" presetSubtype="0" fill="hold" grpId="0"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childTnLst>
                          </p:cTn>
                        </p:par>
                        <p:par>
                          <p:cTn id="40" fill="hold">
                            <p:stCondLst>
                              <p:cond delay="4500"/>
                            </p:stCondLst>
                            <p:childTnLst>
                              <p:par>
                                <p:cTn id="41" presetID="10" presetClass="entr" presetSubtype="0" fill="hold" grpId="0" nodeType="after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52EF1C1-5933-D909-38D2-D22F630A85FE}"/>
              </a:ext>
            </a:extLst>
          </p:cNvPr>
          <p:cNvSpPr>
            <a:spLocks noGrp="1"/>
          </p:cNvSpPr>
          <p:nvPr>
            <p:ph type="title"/>
          </p:nvPr>
        </p:nvSpPr>
        <p:spPr>
          <a:xfrm>
            <a:off x="1468814" y="503852"/>
            <a:ext cx="9808773" cy="1427585"/>
          </a:xfrm>
        </p:spPr>
        <p:txBody>
          <a:bodyPr rtlCol="0"/>
          <a:lstStyle>
            <a:defPPr>
              <a:defRPr lang="fr-FR"/>
            </a:defPPr>
          </a:lstStyle>
          <a:p>
            <a:pPr rtl="0"/>
            <a:r>
              <a:rPr lang="fr-FR" dirty="0"/>
              <a:t>Introduction</a:t>
            </a:r>
          </a:p>
        </p:txBody>
      </p:sp>
      <p:sp>
        <p:nvSpPr>
          <p:cNvPr id="2" name="Espace réservé du numéro de diapositive 1">
            <a:extLst>
              <a:ext uri="{FF2B5EF4-FFF2-40B4-BE49-F238E27FC236}">
                <a16:creationId xmlns:a16="http://schemas.microsoft.com/office/drawing/2014/main" id="{C1D94129-1999-7159-E6E3-7D6C478655BD}"/>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rtl="0"/>
              <a:t>3</a:t>
            </a:fld>
            <a:endParaRPr lang="fr-FR" dirty="0"/>
          </a:p>
        </p:txBody>
      </p:sp>
      <p:pic>
        <p:nvPicPr>
          <p:cNvPr id="7" name="Espace réservé d’image 6" descr="Personne aux cheveux fringants devant une foule">
            <a:extLst>
              <a:ext uri="{FF2B5EF4-FFF2-40B4-BE49-F238E27FC236}">
                <a16:creationId xmlns:a16="http://schemas.microsoft.com/office/drawing/2014/main" id="{9A3D4103-A3C2-A6CC-FF4A-CAB89B7EA625}"/>
              </a:ext>
            </a:extLst>
          </p:cNvPr>
          <p:cNvPicPr>
            <a:picLocks noGrp="1" noChangeAspect="1"/>
          </p:cNvPicPr>
          <p:nvPr>
            <p:ph type="pic" sz="quarter" idx="12"/>
          </p:nvPr>
        </p:nvPicPr>
        <p:blipFill>
          <a:blip r:embed="rId3"/>
          <a:srcRect l="54" r="54"/>
          <a:stretch/>
        </p:blipFill>
        <p:spPr>
          <a:xfrm>
            <a:off x="1503363" y="2061969"/>
            <a:ext cx="4592637" cy="4805362"/>
          </a:xfrm>
        </p:spPr>
      </p:pic>
      <p:sp>
        <p:nvSpPr>
          <p:cNvPr id="3" name="Espace réservé du contenu 2">
            <a:extLst>
              <a:ext uri="{FF2B5EF4-FFF2-40B4-BE49-F238E27FC236}">
                <a16:creationId xmlns:a16="http://schemas.microsoft.com/office/drawing/2014/main" id="{43B3004F-891E-E0B4-FC2D-A5949EC33A3D}"/>
              </a:ext>
            </a:extLst>
          </p:cNvPr>
          <p:cNvSpPr>
            <a:spLocks noGrp="1"/>
          </p:cNvSpPr>
          <p:nvPr>
            <p:ph sz="quarter" idx="11"/>
          </p:nvPr>
        </p:nvSpPr>
        <p:spPr>
          <a:xfrm>
            <a:off x="6583680" y="2340122"/>
            <a:ext cx="5196184" cy="4301412"/>
          </a:xfrm>
        </p:spPr>
        <p:txBody>
          <a:bodyPr rtlCol="0"/>
          <a:lstStyle>
            <a:defPPr>
              <a:defRPr lang="fr-FR"/>
            </a:defPPr>
          </a:lstStyle>
          <a:p>
            <a:pPr rtl="0"/>
            <a:r>
              <a:rPr lang="fr-FR" dirty="0">
                <a:latin typeface="Tisa Offc Serif Pro "/>
              </a:rPr>
              <a:t>Bonjour à tous, je suis ravi de vous présenter aujourd'hui mon projet : </a:t>
            </a:r>
            <a:r>
              <a:rPr lang="fr-FR" b="1" i="1" dirty="0">
                <a:latin typeface="Tisa Offc Serif Pro "/>
              </a:rPr>
              <a:t>un système de gestion de location d'appartements</a:t>
            </a:r>
            <a:r>
              <a:rPr lang="fr-FR" dirty="0">
                <a:latin typeface="Tisa Offc Serif Pro "/>
              </a:rPr>
              <a:t>, conçu pour simplifier et optimiser la gestion locative pour les propriétaires et l'expérience de réservation pour les locataires. Dans un marché en pleine expansion, dominé par des plateformes comme Airbnb, il est essentiel de disposer d'outils performants pour gérer efficacement les annonces et les réservations. Ce projet vise à répondre à ce besoin en offrant une solution complète et intuitive.</a:t>
            </a:r>
          </a:p>
        </p:txBody>
      </p:sp>
    </p:spTree>
    <p:extLst>
      <p:ext uri="{BB962C8B-B14F-4D97-AF65-F5344CB8AC3E}">
        <p14:creationId xmlns:p14="http://schemas.microsoft.com/office/powerpoint/2010/main" val="822506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9D0E47E-D228-15EB-5886-33E9AA181D03}"/>
              </a:ext>
            </a:extLst>
          </p:cNvPr>
          <p:cNvSpPr>
            <a:spLocks noGrp="1"/>
          </p:cNvSpPr>
          <p:nvPr>
            <p:ph type="title"/>
          </p:nvPr>
        </p:nvSpPr>
        <p:spPr>
          <a:xfrm>
            <a:off x="1353827" y="1278294"/>
            <a:ext cx="5000318" cy="4904141"/>
          </a:xfrm>
        </p:spPr>
        <p:txBody>
          <a:bodyPr rtlCol="0"/>
          <a:lstStyle>
            <a:defPPr>
              <a:defRPr lang="fr-FR"/>
            </a:defPPr>
          </a:lstStyle>
          <a:p>
            <a:pPr rtl="0"/>
            <a:r>
              <a:rPr lang="fr-FR" dirty="0"/>
              <a:t>Problématique</a:t>
            </a:r>
          </a:p>
        </p:txBody>
      </p:sp>
      <p:pic>
        <p:nvPicPr>
          <p:cNvPr id="23" name="Espace réservé pour une image  22" descr="Une image contenant clipart, dessin, illustration, dessin humoristique&#10;&#10;Description générée automatiquement">
            <a:extLst>
              <a:ext uri="{FF2B5EF4-FFF2-40B4-BE49-F238E27FC236}">
                <a16:creationId xmlns:a16="http://schemas.microsoft.com/office/drawing/2014/main" id="{4DEF3152-8E84-291C-2662-5A5C2CC8F17B}"/>
              </a:ext>
            </a:extLst>
          </p:cNvPr>
          <p:cNvPicPr>
            <a:picLocks noGrp="1" noChangeAspect="1"/>
          </p:cNvPicPr>
          <p:nvPr>
            <p:ph type="pic" sz="quarter" idx="13"/>
          </p:nvPr>
        </p:nvPicPr>
        <p:blipFill>
          <a:blip r:embed="rId3"/>
          <a:srcRect l="16204" r="16204"/>
          <a:stretch>
            <a:fillRect/>
          </a:stretch>
        </p:blipFill>
        <p:spPr/>
      </p:pic>
    </p:spTree>
    <p:extLst>
      <p:ext uri="{BB962C8B-B14F-4D97-AF65-F5344CB8AC3E}">
        <p14:creationId xmlns:p14="http://schemas.microsoft.com/office/powerpoint/2010/main" val="375211843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EBEE570-1B5E-FFD1-485D-D77E4E6FE7C0}"/>
              </a:ext>
            </a:extLst>
          </p:cNvPr>
          <p:cNvSpPr>
            <a:spLocks noGrp="1"/>
          </p:cNvSpPr>
          <p:nvPr>
            <p:ph sz="quarter" idx="12"/>
          </p:nvPr>
        </p:nvSpPr>
        <p:spPr>
          <a:xfrm>
            <a:off x="1868164" y="1426650"/>
            <a:ext cx="9298712" cy="4516951"/>
          </a:xfrm>
        </p:spPr>
        <p:txBody>
          <a:bodyPr rtlCol="0"/>
          <a:lstStyle>
            <a:defPPr>
              <a:defRPr lang="fr-FR"/>
            </a:defPPr>
          </a:lstStyle>
          <a:p>
            <a:pPr rtl="0"/>
            <a:r>
              <a:rPr lang="fr-FR" dirty="0"/>
              <a:t>Malgré l'essor des plateformes de location d'appartements, de nombreux défis persistent pour les propriétaires et les locataires. Les propriétaires se retrouvent souvent submergés par la gestion manuelle de leurs annonces, des réservations, des paiements et de la communication avec les locataires. Cette gestion chronophage et complexe augmente le risque d'erreurs et peut entraîner une perte de revenus.</a:t>
            </a:r>
          </a:p>
          <a:p>
            <a:pPr rtl="0"/>
            <a:endParaRPr lang="fr-FR" dirty="0"/>
          </a:p>
          <a:p>
            <a:pPr rtl="0"/>
            <a:r>
              <a:rPr lang="fr-FR" dirty="0"/>
              <a:t>De leur côté, les locataires peuvent rencontrer des difficultés à trouver des logements correspondant à leurs critères, à comparer les prix et les disponibilités, et à communiquer facilement avec les propriétaires. Un manque de centralisation et d'automatisation rend le processus de recherche et de réservation fastidieux et peu transparent.</a:t>
            </a:r>
          </a:p>
        </p:txBody>
      </p:sp>
      <p:sp>
        <p:nvSpPr>
          <p:cNvPr id="4" name="Espace réservé du numéro de diapositive 3">
            <a:extLst>
              <a:ext uri="{FF2B5EF4-FFF2-40B4-BE49-F238E27FC236}">
                <a16:creationId xmlns:a16="http://schemas.microsoft.com/office/drawing/2014/main" id="{527C964F-E2D5-D8E7-C513-C47A7E409DF3}"/>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rtl="0"/>
              <a:t>5</a:t>
            </a:fld>
            <a:endParaRPr lang="fr-FR" dirty="0"/>
          </a:p>
        </p:txBody>
      </p:sp>
    </p:spTree>
    <p:extLst>
      <p:ext uri="{BB962C8B-B14F-4D97-AF65-F5344CB8AC3E}">
        <p14:creationId xmlns:p14="http://schemas.microsoft.com/office/powerpoint/2010/main" val="29061523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3000"/>
                                        <p:tgtEl>
                                          <p:spTgt spid="3">
                                            <p:txEl>
                                              <p:pRg st="0" end="0"/>
                                            </p:txEl>
                                          </p:spTgt>
                                        </p:tgtEl>
                                      </p:cBhvr>
                                    </p:animEffect>
                                  </p:childTnLst>
                                </p:cTn>
                              </p:par>
                            </p:childTnLst>
                          </p:cTn>
                        </p:par>
                        <p:par>
                          <p:cTn id="8" fill="hold">
                            <p:stCondLst>
                              <p:cond delay="3000"/>
                            </p:stCondLst>
                            <p:childTnLst>
                              <p:par>
                                <p:cTn id="9" presetID="10" presetClass="entr" presetSubtype="0" fill="hold" grpId="0"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3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C0FEFBF-60FD-0161-6F6E-89EE39389CEE}"/>
              </a:ext>
            </a:extLst>
          </p:cNvPr>
          <p:cNvSpPr>
            <a:spLocks noGrp="1"/>
          </p:cNvSpPr>
          <p:nvPr>
            <p:ph type="title"/>
          </p:nvPr>
        </p:nvSpPr>
        <p:spPr>
          <a:xfrm>
            <a:off x="1353827" y="3508311"/>
            <a:ext cx="9923770" cy="1438762"/>
          </a:xfrm>
        </p:spPr>
        <p:txBody>
          <a:bodyPr rtlCol="0"/>
          <a:lstStyle>
            <a:defPPr>
              <a:defRPr lang="fr-FR"/>
            </a:defPPr>
          </a:lstStyle>
          <a:p>
            <a:pPr rtl="0"/>
            <a:r>
              <a:rPr lang="fr-FR" dirty="0"/>
              <a:t>Solution proposée</a:t>
            </a:r>
          </a:p>
        </p:txBody>
      </p:sp>
      <p:pic>
        <p:nvPicPr>
          <p:cNvPr id="5" name="Espace réservé d’image 84" descr="Deux personnes debout face à une foule de personnes assises">
            <a:extLst>
              <a:ext uri="{FF2B5EF4-FFF2-40B4-BE49-F238E27FC236}">
                <a16:creationId xmlns:a16="http://schemas.microsoft.com/office/drawing/2014/main" id="{E71238CA-461F-1B03-D7E1-786C002AB7DC}"/>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t="35290" b="35290"/>
          <a:stretch/>
        </p:blipFill>
        <p:spPr>
          <a:xfrm>
            <a:off x="915600" y="0"/>
            <a:ext cx="10361995" cy="3429000"/>
          </a:xfrm>
        </p:spPr>
      </p:pic>
      <p:sp>
        <p:nvSpPr>
          <p:cNvPr id="3" name="Espace réservé du texte 2">
            <a:extLst>
              <a:ext uri="{FF2B5EF4-FFF2-40B4-BE49-F238E27FC236}">
                <a16:creationId xmlns:a16="http://schemas.microsoft.com/office/drawing/2014/main" id="{E3F9574F-EEF1-7E50-B5D3-8F9B6DEADE59}"/>
              </a:ext>
            </a:extLst>
          </p:cNvPr>
          <p:cNvSpPr>
            <a:spLocks noGrp="1"/>
          </p:cNvSpPr>
          <p:nvPr>
            <p:ph type="body" sz="quarter" idx="12"/>
          </p:nvPr>
        </p:nvSpPr>
        <p:spPr/>
        <p:txBody>
          <a:bodyPr/>
          <a:lstStyle/>
          <a:p>
            <a:r>
              <a:rPr lang="fr-FR" dirty="0">
                <a:latin typeface="Tisa Offc Serif Pro "/>
              </a:rPr>
              <a:t>Pour répondre à ces défis, j'ai développé un système de gestion de location d'appartements qui offre une solution centralisée et automatisée pour toutes les étapes de la location.</a:t>
            </a:r>
          </a:p>
        </p:txBody>
      </p:sp>
    </p:spTree>
    <p:extLst>
      <p:ext uri="{BB962C8B-B14F-4D97-AF65-F5344CB8AC3E}">
        <p14:creationId xmlns:p14="http://schemas.microsoft.com/office/powerpoint/2010/main" val="342168065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5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392C90C5-5198-C255-02F9-1608AA49E088}"/>
              </a:ext>
            </a:extLst>
          </p:cNvPr>
          <p:cNvSpPr>
            <a:spLocks noGrp="1"/>
          </p:cNvSpPr>
          <p:nvPr>
            <p:ph sz="quarter" idx="12"/>
          </p:nvPr>
        </p:nvSpPr>
        <p:spPr>
          <a:xfrm>
            <a:off x="1267097" y="509452"/>
            <a:ext cx="5368834" cy="5538651"/>
          </a:xfrm>
        </p:spPr>
        <p:txBody>
          <a:bodyPr rtlCol="0">
            <a:noAutofit/>
          </a:bodyPr>
          <a:lstStyle>
            <a:defPPr>
              <a:defRPr lang="fr-FR"/>
            </a:defPPr>
          </a:lstStyle>
          <a:p>
            <a:pPr marL="342900" indent="-342900" rtl="0">
              <a:buFont typeface="Arial" panose="020B0604020202020204" pitchFamily="34" charset="0"/>
              <a:buChar char="•"/>
            </a:pPr>
            <a:r>
              <a:rPr lang="fr-FR" sz="1750" dirty="0">
                <a:solidFill>
                  <a:schemeClr val="accent6"/>
                </a:solidFill>
                <a:latin typeface="Tisa Offc Serif Pro "/>
              </a:rPr>
              <a:t>Gestion des annonces : </a:t>
            </a:r>
            <a:r>
              <a:rPr lang="fr-FR" sz="1750" dirty="0">
                <a:latin typeface="Tisa Offc Serif Pro "/>
              </a:rPr>
              <a:t>Création, modification et publication d'annonces avec description détaillée, photos, caractéristiques, prix et localisation.</a:t>
            </a:r>
          </a:p>
          <a:p>
            <a:pPr marL="342900" indent="-342900" rtl="0">
              <a:buFont typeface="Arial" panose="020B0604020202020204" pitchFamily="34" charset="0"/>
              <a:buChar char="•"/>
            </a:pPr>
            <a:r>
              <a:rPr lang="fr-FR" sz="1750" dirty="0">
                <a:solidFill>
                  <a:schemeClr val="accent6"/>
                </a:solidFill>
                <a:latin typeface="Tisa Offc Serif Pro "/>
              </a:rPr>
              <a:t>Gestion des réservations et des disponibilités : </a:t>
            </a:r>
            <a:r>
              <a:rPr lang="fr-FR" sz="1750" dirty="0">
                <a:latin typeface="Tisa Offc Serif Pro "/>
              </a:rPr>
              <a:t>Suivi en temps réel des disponibilités, gestion des demandes de réservation, confirmation et annulation des réservations.</a:t>
            </a:r>
          </a:p>
          <a:p>
            <a:pPr marL="342900" indent="-342900" rtl="0">
              <a:buFont typeface="Arial" panose="020B0604020202020204" pitchFamily="34" charset="0"/>
              <a:buChar char="•"/>
            </a:pPr>
            <a:r>
              <a:rPr lang="fr-FR" sz="1750" dirty="0">
                <a:solidFill>
                  <a:schemeClr val="accent6"/>
                </a:solidFill>
                <a:latin typeface="Tisa Offc Serif Pro "/>
              </a:rPr>
              <a:t>Gestion des utilisateurs : </a:t>
            </a:r>
            <a:r>
              <a:rPr lang="fr-FR" sz="1750" dirty="0">
                <a:latin typeface="Tisa Offc Serif Pro "/>
              </a:rPr>
              <a:t>Création et gestion des comptes propriétaires, locataires et administrateurs, avec des rôles et permissions spécifiques.</a:t>
            </a:r>
          </a:p>
          <a:p>
            <a:pPr marL="342900" indent="-342900" rtl="0">
              <a:buFont typeface="Arial" panose="020B0604020202020204" pitchFamily="34" charset="0"/>
              <a:buChar char="•"/>
            </a:pPr>
            <a:r>
              <a:rPr lang="fr-FR" sz="1750" dirty="0">
                <a:solidFill>
                  <a:schemeClr val="accent6"/>
                </a:solidFill>
                <a:latin typeface="Tisa Offc Serif Pro "/>
              </a:rPr>
              <a:t>Gestion des paiements et facturations : </a:t>
            </a:r>
            <a:r>
              <a:rPr lang="fr-FR" sz="1750" dirty="0">
                <a:latin typeface="Tisa Offc Serif Pro "/>
              </a:rPr>
              <a:t>Traitement sécurisé des paiements en ligne, génération de factures et suivi des transactions.</a:t>
            </a:r>
          </a:p>
          <a:p>
            <a:pPr marL="342900" indent="-342900" rtl="0">
              <a:buFont typeface="Arial" panose="020B0604020202020204" pitchFamily="34" charset="0"/>
              <a:buChar char="•"/>
            </a:pPr>
            <a:r>
              <a:rPr lang="fr-FR" sz="1750" dirty="0">
                <a:solidFill>
                  <a:schemeClr val="accent6"/>
                </a:solidFill>
                <a:latin typeface="Tisa Offc Serif Pro "/>
              </a:rPr>
              <a:t>Suivi des états des appartements : </a:t>
            </a:r>
            <a:r>
              <a:rPr lang="fr-FR" sz="1750" dirty="0">
                <a:latin typeface="Tisa Offc Serif Pro "/>
              </a:rPr>
              <a:t>Gestion des états (libre, occupé, en maintenance) pour optimiser la planification et la disponibilité.</a:t>
            </a:r>
          </a:p>
        </p:txBody>
      </p:sp>
      <p:sp>
        <p:nvSpPr>
          <p:cNvPr id="2" name="Espace réservé du contenu 1">
            <a:extLst>
              <a:ext uri="{FF2B5EF4-FFF2-40B4-BE49-F238E27FC236}">
                <a16:creationId xmlns:a16="http://schemas.microsoft.com/office/drawing/2014/main" id="{C7992593-AF79-3D1E-E253-0765DF0F513F}"/>
              </a:ext>
            </a:extLst>
          </p:cNvPr>
          <p:cNvSpPr>
            <a:spLocks noGrp="1"/>
          </p:cNvSpPr>
          <p:nvPr>
            <p:ph sz="quarter" idx="11"/>
          </p:nvPr>
        </p:nvSpPr>
        <p:spPr>
          <a:xfrm>
            <a:off x="7073134" y="994645"/>
            <a:ext cx="4609399" cy="4896704"/>
          </a:xfrm>
        </p:spPr>
        <p:txBody>
          <a:bodyPr rtlCol="0">
            <a:normAutofit fontScale="92500" lnSpcReduction="20000"/>
          </a:bodyPr>
          <a:lstStyle>
            <a:defPPr>
              <a:defRPr lang="fr-FR"/>
            </a:defPPr>
          </a:lstStyle>
          <a:p>
            <a:pPr marL="342900" indent="-342900" rtl="0">
              <a:buFont typeface="Arial" panose="020B0604020202020204" pitchFamily="34" charset="0"/>
              <a:buChar char="•"/>
            </a:pPr>
            <a:r>
              <a:rPr lang="fr-FR" dirty="0">
                <a:solidFill>
                  <a:schemeClr val="accent6"/>
                </a:solidFill>
                <a:latin typeface="Tisa Offc Serif Pro "/>
              </a:rPr>
              <a:t>Automatisation de la tarification : </a:t>
            </a:r>
            <a:r>
              <a:rPr lang="fr-FR" dirty="0">
                <a:latin typeface="Tisa Offc Serif Pro "/>
              </a:rPr>
              <a:t>Adaptation automatique des prix en fonction des saisons, des promotions et de la demande.</a:t>
            </a:r>
          </a:p>
          <a:p>
            <a:pPr marL="342900" indent="-342900" rtl="0">
              <a:buFont typeface="Arial" panose="020B0604020202020204" pitchFamily="34" charset="0"/>
              <a:buChar char="•"/>
            </a:pPr>
            <a:r>
              <a:rPr lang="fr-FR" dirty="0">
                <a:solidFill>
                  <a:schemeClr val="accent6"/>
                </a:solidFill>
                <a:latin typeface="Tisa Offc Serif Pro "/>
              </a:rPr>
              <a:t>Communication : </a:t>
            </a:r>
            <a:r>
              <a:rPr lang="fr-FR" dirty="0">
                <a:latin typeface="Tisa Offc Serif Pro "/>
              </a:rPr>
              <a:t>Plateforme de messagerie intégrée pour faciliter la communication entre locataires et propriétaires.</a:t>
            </a:r>
          </a:p>
          <a:p>
            <a:pPr marL="342900" indent="-342900" rtl="0">
              <a:buFont typeface="Arial" panose="020B0604020202020204" pitchFamily="34" charset="0"/>
              <a:buChar char="•"/>
            </a:pPr>
            <a:r>
              <a:rPr lang="fr-FR" dirty="0">
                <a:solidFill>
                  <a:schemeClr val="accent6"/>
                </a:solidFill>
                <a:latin typeface="Tisa Offc Serif Pro "/>
              </a:rPr>
              <a:t>Attribution de tâches aux prestataires : </a:t>
            </a:r>
            <a:r>
              <a:rPr lang="fr-FR" dirty="0">
                <a:latin typeface="Tisa Offc Serif Pro "/>
              </a:rPr>
              <a:t>Gestion des tâches de nettoyage, de maintenance et de réparation, avec assignation aux prestataires et suivi de l'exécution.</a:t>
            </a:r>
          </a:p>
          <a:p>
            <a:pPr marL="342900" indent="-342900" rtl="0">
              <a:buFont typeface="Arial" panose="020B0604020202020204" pitchFamily="34" charset="0"/>
              <a:buChar char="•"/>
            </a:pPr>
            <a:r>
              <a:rPr lang="fr-FR" dirty="0">
                <a:solidFill>
                  <a:schemeClr val="accent6"/>
                </a:solidFill>
                <a:latin typeface="Tisa Offc Serif Pro "/>
              </a:rPr>
              <a:t>Rapports et statistiques : </a:t>
            </a:r>
            <a:r>
              <a:rPr lang="fr-FR" dirty="0">
                <a:latin typeface="Tisa Offc Serif Pro "/>
              </a:rPr>
              <a:t>Génération de rapports sur les revenus, les réservations, les disponibilités et les performances des annonces.</a:t>
            </a:r>
          </a:p>
        </p:txBody>
      </p:sp>
      <p:sp>
        <p:nvSpPr>
          <p:cNvPr id="5" name="Espace réservé du numéro de diapositive 4">
            <a:extLst>
              <a:ext uri="{FF2B5EF4-FFF2-40B4-BE49-F238E27FC236}">
                <a16:creationId xmlns:a16="http://schemas.microsoft.com/office/drawing/2014/main" id="{A34518A5-1C9D-79F3-349C-3E7AAFD98951}"/>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rtl="0"/>
              <a:t>7</a:t>
            </a:fld>
            <a:endParaRPr lang="fr-FR" dirty="0"/>
          </a:p>
        </p:txBody>
      </p:sp>
    </p:spTree>
    <p:extLst>
      <p:ext uri="{BB962C8B-B14F-4D97-AF65-F5344CB8AC3E}">
        <p14:creationId xmlns:p14="http://schemas.microsoft.com/office/powerpoint/2010/main" val="5543824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750"/>
                                        <p:tgtEl>
                                          <p:spTgt spid="4">
                                            <p:txEl>
                                              <p:pRg st="0" end="0"/>
                                            </p:txEl>
                                          </p:spTgt>
                                        </p:tgtEl>
                                      </p:cBhvr>
                                    </p:animEffect>
                                  </p:childTnLst>
                                </p:cTn>
                              </p:par>
                            </p:childTnLst>
                          </p:cTn>
                        </p:par>
                        <p:par>
                          <p:cTn id="8" fill="hold">
                            <p:stCondLst>
                              <p:cond delay="2750"/>
                            </p:stCondLst>
                            <p:childTnLst>
                              <p:par>
                                <p:cTn id="9" presetID="10"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2750"/>
                                        <p:tgtEl>
                                          <p:spTgt spid="4">
                                            <p:txEl>
                                              <p:pRg st="1" end="1"/>
                                            </p:txEl>
                                          </p:spTgt>
                                        </p:tgtEl>
                                      </p:cBhvr>
                                    </p:animEffect>
                                  </p:childTnLst>
                                </p:cTn>
                              </p:par>
                            </p:childTnLst>
                          </p:cTn>
                        </p:par>
                        <p:par>
                          <p:cTn id="12" fill="hold">
                            <p:stCondLst>
                              <p:cond delay="5500"/>
                            </p:stCondLst>
                            <p:childTnLst>
                              <p:par>
                                <p:cTn id="13" presetID="10" presetClass="entr" presetSubtype="0"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2750"/>
                                        <p:tgtEl>
                                          <p:spTgt spid="4">
                                            <p:txEl>
                                              <p:pRg st="2" end="2"/>
                                            </p:txEl>
                                          </p:spTgt>
                                        </p:tgtEl>
                                      </p:cBhvr>
                                    </p:animEffect>
                                  </p:childTnLst>
                                </p:cTn>
                              </p:par>
                            </p:childTnLst>
                          </p:cTn>
                        </p:par>
                        <p:par>
                          <p:cTn id="16" fill="hold">
                            <p:stCondLst>
                              <p:cond delay="8250"/>
                            </p:stCondLst>
                            <p:childTnLst>
                              <p:par>
                                <p:cTn id="17" presetID="10"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2750"/>
                                        <p:tgtEl>
                                          <p:spTgt spid="4">
                                            <p:txEl>
                                              <p:pRg st="3" end="3"/>
                                            </p:txEl>
                                          </p:spTgt>
                                        </p:tgtEl>
                                      </p:cBhvr>
                                    </p:animEffect>
                                  </p:childTnLst>
                                </p:cTn>
                              </p:par>
                            </p:childTnLst>
                          </p:cTn>
                        </p:par>
                        <p:par>
                          <p:cTn id="20" fill="hold">
                            <p:stCondLst>
                              <p:cond delay="11000"/>
                            </p:stCondLst>
                            <p:childTnLst>
                              <p:par>
                                <p:cTn id="21" presetID="10" presetClass="entr" presetSubtype="0" fill="hold" grpId="0"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2750"/>
                                        <p:tgtEl>
                                          <p:spTgt spid="4">
                                            <p:txEl>
                                              <p:pRg st="4" end="4"/>
                                            </p:txEl>
                                          </p:spTgt>
                                        </p:tgtEl>
                                      </p:cBhvr>
                                    </p:animEffect>
                                  </p:childTnLst>
                                </p:cTn>
                              </p:par>
                            </p:childTnLst>
                          </p:cTn>
                        </p:par>
                        <p:par>
                          <p:cTn id="24" fill="hold">
                            <p:stCondLst>
                              <p:cond delay="13750"/>
                            </p:stCondLst>
                            <p:childTnLst>
                              <p:par>
                                <p:cTn id="25" presetID="10" presetClass="entr" presetSubtype="0" fill="hold" grpId="0" nodeType="afterEffect">
                                  <p:stCondLst>
                                    <p:cond delay="1750"/>
                                  </p:stCondLst>
                                  <p:childTnLst>
                                    <p:set>
                                      <p:cBhvr>
                                        <p:cTn id="26" dur="1" fill="hold">
                                          <p:stCondLst>
                                            <p:cond delay="0"/>
                                          </p:stCondLst>
                                        </p:cTn>
                                        <p:tgtEl>
                                          <p:spTgt spid="2">
                                            <p:txEl>
                                              <p:pRg st="0" end="0"/>
                                            </p:txEl>
                                          </p:spTgt>
                                        </p:tgtEl>
                                        <p:attrNameLst>
                                          <p:attrName>style.visibility</p:attrName>
                                        </p:attrNameLst>
                                      </p:cBhvr>
                                      <p:to>
                                        <p:strVal val="visible"/>
                                      </p:to>
                                    </p:set>
                                    <p:animEffect transition="in" filter="fade">
                                      <p:cBhvr>
                                        <p:cTn id="27" dur="2500"/>
                                        <p:tgtEl>
                                          <p:spTgt spid="2">
                                            <p:txEl>
                                              <p:pRg st="0" end="0"/>
                                            </p:txEl>
                                          </p:spTgt>
                                        </p:tgtEl>
                                      </p:cBhvr>
                                    </p:animEffect>
                                  </p:childTnLst>
                                </p:cTn>
                              </p:par>
                            </p:childTnLst>
                          </p:cTn>
                        </p:par>
                        <p:par>
                          <p:cTn id="28" fill="hold">
                            <p:stCondLst>
                              <p:cond delay="18000"/>
                            </p:stCondLst>
                            <p:childTnLst>
                              <p:par>
                                <p:cTn id="29" presetID="10" presetClass="entr" presetSubtype="0" fill="hold" grpId="0" nodeType="afterEffect">
                                  <p:stCondLst>
                                    <p:cond delay="1750"/>
                                  </p:stCondLst>
                                  <p:childTnLst>
                                    <p:set>
                                      <p:cBhvr>
                                        <p:cTn id="30" dur="1" fill="hold">
                                          <p:stCondLst>
                                            <p:cond delay="0"/>
                                          </p:stCondLst>
                                        </p:cTn>
                                        <p:tgtEl>
                                          <p:spTgt spid="2">
                                            <p:txEl>
                                              <p:pRg st="1" end="1"/>
                                            </p:txEl>
                                          </p:spTgt>
                                        </p:tgtEl>
                                        <p:attrNameLst>
                                          <p:attrName>style.visibility</p:attrName>
                                        </p:attrNameLst>
                                      </p:cBhvr>
                                      <p:to>
                                        <p:strVal val="visible"/>
                                      </p:to>
                                    </p:set>
                                    <p:animEffect transition="in" filter="fade">
                                      <p:cBhvr>
                                        <p:cTn id="31" dur="2500"/>
                                        <p:tgtEl>
                                          <p:spTgt spid="2">
                                            <p:txEl>
                                              <p:pRg st="1" end="1"/>
                                            </p:txEl>
                                          </p:spTgt>
                                        </p:tgtEl>
                                      </p:cBhvr>
                                    </p:animEffect>
                                  </p:childTnLst>
                                </p:cTn>
                              </p:par>
                            </p:childTnLst>
                          </p:cTn>
                        </p:par>
                        <p:par>
                          <p:cTn id="32" fill="hold">
                            <p:stCondLst>
                              <p:cond delay="22250"/>
                            </p:stCondLst>
                            <p:childTnLst>
                              <p:par>
                                <p:cTn id="33" presetID="10" presetClass="entr" presetSubtype="0" fill="hold" grpId="0" nodeType="afterEffect">
                                  <p:stCondLst>
                                    <p:cond delay="175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fade">
                                      <p:cBhvr>
                                        <p:cTn id="35" dur="2500"/>
                                        <p:tgtEl>
                                          <p:spTgt spid="2">
                                            <p:txEl>
                                              <p:pRg st="2" end="2"/>
                                            </p:txEl>
                                          </p:spTgt>
                                        </p:tgtEl>
                                      </p:cBhvr>
                                    </p:animEffect>
                                  </p:childTnLst>
                                </p:cTn>
                              </p:par>
                            </p:childTnLst>
                          </p:cTn>
                        </p:par>
                        <p:par>
                          <p:cTn id="36" fill="hold">
                            <p:stCondLst>
                              <p:cond delay="26500"/>
                            </p:stCondLst>
                            <p:childTnLst>
                              <p:par>
                                <p:cTn id="37" presetID="10" presetClass="entr" presetSubtype="0" fill="hold" grpId="0" nodeType="afterEffect">
                                  <p:stCondLst>
                                    <p:cond delay="1750"/>
                                  </p:stCondLst>
                                  <p:childTnLst>
                                    <p:set>
                                      <p:cBhvr>
                                        <p:cTn id="38" dur="1" fill="hold">
                                          <p:stCondLst>
                                            <p:cond delay="0"/>
                                          </p:stCondLst>
                                        </p:cTn>
                                        <p:tgtEl>
                                          <p:spTgt spid="2">
                                            <p:txEl>
                                              <p:pRg st="3" end="3"/>
                                            </p:txEl>
                                          </p:spTgt>
                                        </p:tgtEl>
                                        <p:attrNameLst>
                                          <p:attrName>style.visibility</p:attrName>
                                        </p:attrNameLst>
                                      </p:cBhvr>
                                      <p:to>
                                        <p:strVal val="visible"/>
                                      </p:to>
                                    </p:set>
                                    <p:animEffect transition="in" filter="fade">
                                      <p:cBhvr>
                                        <p:cTn id="39" dur="2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9D0E47E-D228-15EB-5886-33E9AA181D03}"/>
              </a:ext>
            </a:extLst>
          </p:cNvPr>
          <p:cNvSpPr>
            <a:spLocks noGrp="1"/>
          </p:cNvSpPr>
          <p:nvPr>
            <p:ph type="title"/>
          </p:nvPr>
        </p:nvSpPr>
        <p:spPr>
          <a:xfrm>
            <a:off x="1353827" y="1278294"/>
            <a:ext cx="5000318" cy="4904141"/>
          </a:xfrm>
        </p:spPr>
        <p:txBody>
          <a:bodyPr rtlCol="0" anchor="b">
            <a:normAutofit/>
          </a:bodyPr>
          <a:lstStyle>
            <a:defPPr>
              <a:defRPr lang="fr-FR"/>
            </a:defPPr>
          </a:lstStyle>
          <a:p>
            <a:pPr rtl="0"/>
            <a:r>
              <a:rPr lang="fr-FR" dirty="0"/>
              <a:t>Aspects techniques</a:t>
            </a:r>
          </a:p>
        </p:txBody>
      </p:sp>
      <p:pic>
        <p:nvPicPr>
          <p:cNvPr id="12" name="Image 11" descr="Une image contenant capture d’écran, Graphique, Rectangle, conception&#10;&#10;Description générée automatiquement">
            <a:extLst>
              <a:ext uri="{FF2B5EF4-FFF2-40B4-BE49-F238E27FC236}">
                <a16:creationId xmlns:a16="http://schemas.microsoft.com/office/drawing/2014/main" id="{3107F8FC-B53B-47E6-8792-5B3E6B885D44}"/>
              </a:ext>
            </a:extLst>
          </p:cNvPr>
          <p:cNvPicPr>
            <a:picLocks noChangeAspect="1"/>
          </p:cNvPicPr>
          <p:nvPr/>
        </p:nvPicPr>
        <p:blipFill>
          <a:blip r:embed="rId3"/>
          <a:stretch>
            <a:fillRect/>
          </a:stretch>
        </p:blipFill>
        <p:spPr>
          <a:xfrm>
            <a:off x="6642169" y="1111285"/>
            <a:ext cx="4635426" cy="4635426"/>
          </a:xfrm>
          <a:prstGeom prst="rect">
            <a:avLst/>
          </a:prstGeom>
          <a:noFill/>
        </p:spPr>
      </p:pic>
    </p:spTree>
    <p:extLst>
      <p:ext uri="{BB962C8B-B14F-4D97-AF65-F5344CB8AC3E}">
        <p14:creationId xmlns:p14="http://schemas.microsoft.com/office/powerpoint/2010/main" val="8165568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685D951B-D6C0-AB0A-0FFD-23670BE643EE}"/>
              </a:ext>
            </a:extLst>
          </p:cNvPr>
          <p:cNvSpPr>
            <a:spLocks noGrp="1"/>
          </p:cNvSpPr>
          <p:nvPr>
            <p:ph sz="quarter" idx="12"/>
          </p:nvPr>
        </p:nvSpPr>
        <p:spPr>
          <a:xfrm>
            <a:off x="1381119" y="1838053"/>
            <a:ext cx="3674206" cy="3596096"/>
          </a:xfrm>
        </p:spPr>
        <p:txBody>
          <a:bodyPr rtlCol="0">
            <a:normAutofit/>
          </a:bodyPr>
          <a:lstStyle>
            <a:defPPr>
              <a:defRPr lang="fr-FR"/>
            </a:defPPr>
          </a:lstStyle>
          <a:p>
            <a:pPr marL="0" indent="0" rtl="0">
              <a:buNone/>
            </a:pPr>
            <a:r>
              <a:rPr lang="fr-FR" sz="1900" dirty="0" err="1">
                <a:solidFill>
                  <a:schemeClr val="accent2">
                    <a:lumMod val="75000"/>
                  </a:schemeClr>
                </a:solidFill>
                <a:latin typeface="Tisa Offc Serif Pro "/>
              </a:rPr>
              <a:t>Front-end</a:t>
            </a:r>
            <a:r>
              <a:rPr lang="fr-FR" sz="1900" dirty="0">
                <a:solidFill>
                  <a:schemeClr val="accent2">
                    <a:lumMod val="75000"/>
                  </a:schemeClr>
                </a:solidFill>
                <a:latin typeface="Tisa Offc Serif Pro "/>
              </a:rPr>
              <a:t> (interface utilisateur)</a:t>
            </a:r>
          </a:p>
          <a:p>
            <a:pPr marL="342900" indent="-342900" rtl="0">
              <a:buFont typeface="Arial" panose="020B0604020202020204" pitchFamily="34" charset="0"/>
              <a:buChar char="•"/>
            </a:pPr>
            <a:r>
              <a:rPr lang="fr-FR" sz="1900" dirty="0">
                <a:solidFill>
                  <a:schemeClr val="accent6"/>
                </a:solidFill>
                <a:latin typeface="Tisa Offc Serif Pro "/>
              </a:rPr>
              <a:t>Framework JavaScript : </a:t>
            </a:r>
            <a:r>
              <a:rPr lang="fr-FR" sz="1900" dirty="0" err="1">
                <a:latin typeface="Tisa Offc Serif Pro "/>
              </a:rPr>
              <a:t>Angular</a:t>
            </a:r>
            <a:endParaRPr lang="fr-FR" sz="1900" dirty="0">
              <a:latin typeface="Tisa Offc Serif Pro "/>
            </a:endParaRPr>
          </a:p>
          <a:p>
            <a:pPr marL="342900" indent="-342900" rtl="0">
              <a:buFont typeface="Arial" panose="020B0604020202020204" pitchFamily="34" charset="0"/>
              <a:buChar char="•"/>
            </a:pPr>
            <a:r>
              <a:rPr lang="fr-FR" sz="1900" dirty="0">
                <a:solidFill>
                  <a:schemeClr val="accent6"/>
                </a:solidFill>
                <a:latin typeface="Tisa Offc Serif Pro "/>
              </a:rPr>
              <a:t>Gestionnaire de paquets : </a:t>
            </a:r>
            <a:r>
              <a:rPr lang="fr-FR" sz="1900" dirty="0" err="1">
                <a:latin typeface="Tisa Offc Serif Pro "/>
              </a:rPr>
              <a:t>npm</a:t>
            </a:r>
            <a:r>
              <a:rPr lang="fr-FR" sz="1900" dirty="0">
                <a:latin typeface="Tisa Offc Serif Pro "/>
              </a:rPr>
              <a:t> ou </a:t>
            </a:r>
            <a:r>
              <a:rPr lang="fr-FR" sz="1900" dirty="0" err="1">
                <a:latin typeface="Tisa Offc Serif Pro "/>
              </a:rPr>
              <a:t>Yarn</a:t>
            </a:r>
            <a:r>
              <a:rPr lang="fr-FR" sz="1900" dirty="0">
                <a:latin typeface="Tisa Offc Serif Pro "/>
              </a:rPr>
              <a:t> (pour gérer les dépendances JavaScript)</a:t>
            </a:r>
          </a:p>
          <a:p>
            <a:pPr marL="285750" indent="-285750" rtl="0">
              <a:buFont typeface="Arial" panose="020B0604020202020204" pitchFamily="34" charset="0"/>
              <a:buChar char="•"/>
            </a:pPr>
            <a:r>
              <a:rPr lang="fr-FR" sz="1900" dirty="0">
                <a:solidFill>
                  <a:schemeClr val="accent6"/>
                </a:solidFill>
                <a:latin typeface="Tisa Offc Serif Pro "/>
              </a:rPr>
              <a:t>Bibliothèque UI : </a:t>
            </a:r>
            <a:r>
              <a:rPr lang="fr-FR" sz="1900" dirty="0" err="1">
                <a:latin typeface="Tisa Offc Serif Pro "/>
              </a:rPr>
              <a:t>TailWind</a:t>
            </a:r>
            <a:r>
              <a:rPr lang="fr-FR" sz="1900" dirty="0">
                <a:latin typeface="Tisa Offc Serif Pro "/>
              </a:rPr>
              <a:t> CSS(pour faciliter le style et le design responsive)</a:t>
            </a:r>
          </a:p>
        </p:txBody>
      </p:sp>
      <p:sp>
        <p:nvSpPr>
          <p:cNvPr id="5" name="Espace réservé du numéro de diapositive 4">
            <a:extLst>
              <a:ext uri="{FF2B5EF4-FFF2-40B4-BE49-F238E27FC236}">
                <a16:creationId xmlns:a16="http://schemas.microsoft.com/office/drawing/2014/main" id="{25756543-DA8C-CEE2-0E13-19DE61C1349B}"/>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rtl="0"/>
              <a:t>9</a:t>
            </a:fld>
            <a:endParaRPr lang="fr-FR" dirty="0"/>
          </a:p>
        </p:txBody>
      </p:sp>
      <p:sp>
        <p:nvSpPr>
          <p:cNvPr id="8" name="Espace réservé du contenu 1">
            <a:extLst>
              <a:ext uri="{FF2B5EF4-FFF2-40B4-BE49-F238E27FC236}">
                <a16:creationId xmlns:a16="http://schemas.microsoft.com/office/drawing/2014/main" id="{974154FF-0D91-225F-7A94-DFD3DEF51761}"/>
              </a:ext>
            </a:extLst>
          </p:cNvPr>
          <p:cNvSpPr txBox="1">
            <a:spLocks/>
          </p:cNvSpPr>
          <p:nvPr/>
        </p:nvSpPr>
        <p:spPr>
          <a:xfrm>
            <a:off x="5643155" y="627017"/>
            <a:ext cx="5975052" cy="5578773"/>
          </a:xfrm>
          <a:prstGeom prst="rect">
            <a:avLst/>
          </a:prstGeom>
        </p:spPr>
        <p:txBody>
          <a:bodyPr vert="horz" lIns="0" tIns="45720" rIns="91440" bIns="45720" rtlCol="0">
            <a:normAutofit fontScale="92500" lnSpcReduction="20000"/>
          </a:bodyPr>
          <a:lstStyle>
            <a:defPPr>
              <a:defRPr lang="fr-FR"/>
            </a:defPPr>
            <a:lvl1pPr marL="0" indent="0" algn="l" defTabSz="914400" rtl="0" eaLnBrk="1" latinLnBrk="0" hangingPunct="1">
              <a:lnSpc>
                <a:spcPct val="100000"/>
              </a:lnSpc>
              <a:spcBef>
                <a:spcPts val="1000"/>
              </a:spcBef>
              <a:spcAft>
                <a:spcPts val="1200"/>
              </a:spcAft>
              <a:buFont typeface="Arial" panose="020B0604020202020204" pitchFamily="34" charset="0"/>
              <a:buNone/>
              <a:defRPr lang="fr-FR" sz="2000" kern="1200">
                <a:solidFill>
                  <a:schemeClr val="tx1"/>
                </a:solidFill>
                <a:latin typeface="+mn-lt"/>
                <a:ea typeface="+mn-ea"/>
                <a:cs typeface="+mn-cs"/>
              </a:defRPr>
            </a:lvl1pPr>
            <a:lvl2pPr marL="228600" indent="-228600" algn="l" defTabSz="914400" rtl="0" eaLnBrk="1" latinLnBrk="0" hangingPunct="1">
              <a:lnSpc>
                <a:spcPct val="100000"/>
              </a:lnSpc>
              <a:spcBef>
                <a:spcPts val="1000"/>
              </a:spcBef>
              <a:spcAft>
                <a:spcPts val="1200"/>
              </a:spcAft>
              <a:buFont typeface="Arial" panose="020B0604020202020204" pitchFamily="34" charset="0"/>
              <a:buChar char="•"/>
              <a:defRPr lang="fr-FR" sz="2000" kern="1200">
                <a:solidFill>
                  <a:schemeClr val="tx1"/>
                </a:solidFill>
                <a:latin typeface="+mn-lt"/>
                <a:ea typeface="+mn-ea"/>
                <a:cs typeface="+mn-cs"/>
              </a:defRPr>
            </a:lvl2pPr>
            <a:lvl3pPr marL="685800" indent="-228600" algn="l" defTabSz="914400" rtl="0" eaLnBrk="1" latinLnBrk="0" hangingPunct="1">
              <a:lnSpc>
                <a:spcPct val="90000"/>
              </a:lnSpc>
              <a:spcBef>
                <a:spcPts val="1000"/>
              </a:spcBef>
              <a:spcAft>
                <a:spcPts val="1200"/>
              </a:spcAft>
              <a:buFont typeface="Arial" panose="020B0604020202020204" pitchFamily="34" charset="0"/>
              <a:buChar char="•"/>
              <a:defRPr lang="fr-FR" sz="2000" kern="1200">
                <a:solidFill>
                  <a:schemeClr val="tx1"/>
                </a:solidFill>
                <a:latin typeface="+mn-lt"/>
                <a:ea typeface="+mn-ea"/>
                <a:cs typeface="+mn-cs"/>
              </a:defRPr>
            </a:lvl3pPr>
            <a:lvl4pPr marL="1143000" indent="-228600" algn="l" defTabSz="914400" rtl="0" eaLnBrk="1" latinLnBrk="0" hangingPunct="1">
              <a:lnSpc>
                <a:spcPct val="90000"/>
              </a:lnSpc>
              <a:spcBef>
                <a:spcPts val="1000"/>
              </a:spcBef>
              <a:spcAft>
                <a:spcPts val="1200"/>
              </a:spcAft>
              <a:buFont typeface="Arial" panose="020B0604020202020204" pitchFamily="34" charset="0"/>
              <a:buChar char="•"/>
              <a:defRPr lang="fr-FR" sz="2000" kern="1200">
                <a:solidFill>
                  <a:schemeClr val="tx1"/>
                </a:solidFill>
                <a:latin typeface="+mn-lt"/>
                <a:ea typeface="+mn-ea"/>
                <a:cs typeface="+mn-cs"/>
              </a:defRPr>
            </a:lvl4pPr>
            <a:lvl5pPr marL="1600200" indent="-228600" algn="l" defTabSz="914400" rtl="0" eaLnBrk="1" latinLnBrk="0" hangingPunct="1">
              <a:lnSpc>
                <a:spcPct val="90000"/>
              </a:lnSpc>
              <a:spcBef>
                <a:spcPts val="1000"/>
              </a:spcBef>
              <a:spcAft>
                <a:spcPts val="1200"/>
              </a:spcAft>
              <a:buFont typeface="Arial" panose="020B0604020202020204" pitchFamily="34" charset="0"/>
              <a:buChar char="•"/>
              <a:defRPr lang="fr-F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a:lstStyle>
          <a:p>
            <a:r>
              <a:rPr lang="fr-FR" sz="2300" dirty="0" err="1">
                <a:solidFill>
                  <a:schemeClr val="accent2">
                    <a:lumMod val="75000"/>
                  </a:schemeClr>
                </a:solidFill>
                <a:latin typeface="Tisa Offc Serif Pro "/>
              </a:rPr>
              <a:t>Back-end</a:t>
            </a:r>
            <a:r>
              <a:rPr lang="fr-FR" sz="2300" dirty="0">
                <a:solidFill>
                  <a:schemeClr val="accent2">
                    <a:lumMod val="75000"/>
                  </a:schemeClr>
                </a:solidFill>
                <a:latin typeface="Tisa Offc Serif Pro "/>
              </a:rPr>
              <a:t> (serveur)</a:t>
            </a:r>
          </a:p>
          <a:p>
            <a:pPr marL="342900" indent="-342900">
              <a:lnSpc>
                <a:spcPct val="120000"/>
              </a:lnSpc>
              <a:buFont typeface="Arial" panose="020B0604020202020204" pitchFamily="34" charset="0"/>
              <a:buChar char="•"/>
            </a:pPr>
            <a:r>
              <a:rPr lang="fr-FR" dirty="0">
                <a:solidFill>
                  <a:schemeClr val="accent6"/>
                </a:solidFill>
                <a:latin typeface="Tisa Offc Serif Pro "/>
              </a:rPr>
              <a:t>Langage de programmation : </a:t>
            </a:r>
            <a:r>
              <a:rPr lang="fr-FR" dirty="0">
                <a:latin typeface="Tisa Offc Serif Pro "/>
              </a:rPr>
              <a:t>Java</a:t>
            </a:r>
          </a:p>
          <a:p>
            <a:pPr marL="342900" indent="-342900">
              <a:lnSpc>
                <a:spcPct val="120000"/>
              </a:lnSpc>
              <a:buFont typeface="Arial" panose="020B0604020202020204" pitchFamily="34" charset="0"/>
              <a:buChar char="•"/>
            </a:pPr>
            <a:r>
              <a:rPr lang="fr-FR" dirty="0">
                <a:solidFill>
                  <a:schemeClr val="accent6"/>
                </a:solidFill>
                <a:latin typeface="Tisa Offc Serif Pro "/>
              </a:rPr>
              <a:t>Framework : </a:t>
            </a:r>
            <a:r>
              <a:rPr lang="fr-FR" dirty="0">
                <a:latin typeface="Tisa Offc Serif Pro "/>
              </a:rPr>
              <a:t>Spring Boot </a:t>
            </a:r>
          </a:p>
          <a:p>
            <a:pPr marL="342900" indent="-342900">
              <a:buFont typeface="Arial" panose="020B0604020202020204" pitchFamily="34" charset="0"/>
              <a:buChar char="•"/>
            </a:pPr>
            <a:r>
              <a:rPr lang="fr-FR" dirty="0">
                <a:solidFill>
                  <a:schemeClr val="accent6"/>
                </a:solidFill>
                <a:latin typeface="Tisa Offc Serif Pro "/>
              </a:rPr>
              <a:t>Base de données : </a:t>
            </a:r>
            <a:r>
              <a:rPr lang="fr-FR" dirty="0" err="1">
                <a:latin typeface="Tisa Offc Serif Pro "/>
              </a:rPr>
              <a:t>MariaDB</a:t>
            </a:r>
            <a:r>
              <a:rPr lang="fr-FR" dirty="0">
                <a:latin typeface="Tisa Offc Serif Pro "/>
              </a:rPr>
              <a:t> </a:t>
            </a:r>
          </a:p>
          <a:p>
            <a:pPr marL="342900" indent="-342900">
              <a:buFont typeface="Arial" panose="020B0604020202020204" pitchFamily="34" charset="0"/>
              <a:buChar char="•"/>
            </a:pPr>
            <a:r>
              <a:rPr lang="fr-FR" dirty="0">
                <a:solidFill>
                  <a:schemeClr val="accent6"/>
                </a:solidFill>
                <a:latin typeface="Tisa Offc Serif Pro "/>
              </a:rPr>
              <a:t>ORM (Object-</a:t>
            </a:r>
            <a:r>
              <a:rPr lang="fr-FR" dirty="0" err="1">
                <a:solidFill>
                  <a:schemeClr val="accent6"/>
                </a:solidFill>
                <a:latin typeface="Tisa Offc Serif Pro "/>
              </a:rPr>
              <a:t>Relational</a:t>
            </a:r>
            <a:r>
              <a:rPr lang="fr-FR" dirty="0">
                <a:solidFill>
                  <a:schemeClr val="accent6"/>
                </a:solidFill>
                <a:latin typeface="Tisa Offc Serif Pro "/>
              </a:rPr>
              <a:t> Mapping) : </a:t>
            </a:r>
            <a:r>
              <a:rPr lang="fr-FR" dirty="0">
                <a:latin typeface="Tisa Offc Serif Pro "/>
              </a:rPr>
              <a:t>Spring Data JPA (simplifie l'accès et la manipulation des données en base)</a:t>
            </a:r>
          </a:p>
          <a:p>
            <a:pPr marL="342900" indent="-342900">
              <a:buFont typeface="Arial" panose="020B0604020202020204" pitchFamily="34" charset="0"/>
              <a:buChar char="•"/>
            </a:pPr>
            <a:r>
              <a:rPr lang="fr-FR" dirty="0">
                <a:solidFill>
                  <a:schemeClr val="accent6"/>
                </a:solidFill>
                <a:latin typeface="Tisa Offc Serif Pro "/>
              </a:rPr>
              <a:t>API REST : </a:t>
            </a:r>
            <a:r>
              <a:rPr lang="fr-FR" dirty="0">
                <a:latin typeface="Tisa Offc Serif Pro "/>
              </a:rPr>
              <a:t>Spring Web (pour créer des API RESTful)</a:t>
            </a:r>
          </a:p>
          <a:p>
            <a:pPr marL="342900" indent="-342900">
              <a:buFont typeface="Arial" panose="020B0604020202020204" pitchFamily="34" charset="0"/>
              <a:buChar char="•"/>
            </a:pPr>
            <a:r>
              <a:rPr lang="fr-FR" dirty="0">
                <a:solidFill>
                  <a:schemeClr val="accent6"/>
                </a:solidFill>
                <a:latin typeface="Tisa Offc Serif Pro "/>
              </a:rPr>
              <a:t>Sécurité : </a:t>
            </a:r>
            <a:r>
              <a:rPr lang="fr-FR" dirty="0">
                <a:latin typeface="Tisa Offc Serif Pro "/>
              </a:rPr>
              <a:t>Spring Security </a:t>
            </a:r>
          </a:p>
          <a:p>
            <a:pPr marL="342900" indent="-342900">
              <a:buFont typeface="Arial" panose="020B0604020202020204" pitchFamily="34" charset="0"/>
              <a:buChar char="•"/>
            </a:pPr>
            <a:r>
              <a:rPr lang="fr-FR" dirty="0">
                <a:solidFill>
                  <a:schemeClr val="accent6"/>
                </a:solidFill>
                <a:latin typeface="Tisa Offc Serif Pro "/>
              </a:rPr>
              <a:t>Outils de </a:t>
            </a:r>
            <a:r>
              <a:rPr lang="fr-FR" dirty="0" err="1">
                <a:solidFill>
                  <a:schemeClr val="accent6"/>
                </a:solidFill>
                <a:latin typeface="Tisa Offc Serif Pro "/>
              </a:rPr>
              <a:t>build</a:t>
            </a:r>
            <a:r>
              <a:rPr lang="fr-FR" dirty="0">
                <a:solidFill>
                  <a:schemeClr val="accent6"/>
                </a:solidFill>
                <a:latin typeface="Tisa Offc Serif Pro "/>
              </a:rPr>
              <a:t> : </a:t>
            </a:r>
            <a:r>
              <a:rPr lang="fr-FR" dirty="0">
                <a:latin typeface="Tisa Offc Serif Pro "/>
              </a:rPr>
              <a:t>Maven ou </a:t>
            </a:r>
            <a:r>
              <a:rPr lang="fr-FR" dirty="0" err="1">
                <a:latin typeface="Tisa Offc Serif Pro "/>
              </a:rPr>
              <a:t>Gradle</a:t>
            </a:r>
            <a:r>
              <a:rPr lang="fr-FR" dirty="0">
                <a:latin typeface="Tisa Offc Serif Pro "/>
              </a:rPr>
              <a:t> (pour gérer les dépendances et construire le projet)</a:t>
            </a:r>
          </a:p>
          <a:p>
            <a:pPr marL="342900" indent="-342900">
              <a:buFont typeface="Arial" panose="020B0604020202020204" pitchFamily="34" charset="0"/>
              <a:buChar char="•"/>
            </a:pPr>
            <a:r>
              <a:rPr lang="fr-FR" dirty="0">
                <a:solidFill>
                  <a:schemeClr val="accent6"/>
                </a:solidFill>
                <a:latin typeface="Tisa Offc Serif Pro "/>
              </a:rPr>
              <a:t>Serveur d'application : </a:t>
            </a:r>
            <a:r>
              <a:rPr lang="fr-FR" dirty="0">
                <a:latin typeface="Tisa Offc Serif Pro "/>
              </a:rPr>
              <a:t>Tomcat (intégré à Spring Boot)</a:t>
            </a:r>
          </a:p>
        </p:txBody>
      </p:sp>
    </p:spTree>
    <p:extLst>
      <p:ext uri="{BB962C8B-B14F-4D97-AF65-F5344CB8AC3E}">
        <p14:creationId xmlns:p14="http://schemas.microsoft.com/office/powerpoint/2010/main" val="230201016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500"/>
                                        <p:tgtEl>
                                          <p:spTgt spid="4">
                                            <p:txEl>
                                              <p:pRg st="0" end="0"/>
                                            </p:txEl>
                                          </p:spTgt>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1500"/>
                                        <p:tgtEl>
                                          <p:spTgt spid="4">
                                            <p:txEl>
                                              <p:pRg st="1" end="1"/>
                                            </p:txEl>
                                          </p:spTgt>
                                        </p:tgtEl>
                                      </p:cBhvr>
                                    </p:animEffect>
                                  </p:childTnLst>
                                </p:cTn>
                              </p:par>
                            </p:childTnLst>
                          </p:cTn>
                        </p:par>
                        <p:par>
                          <p:cTn id="12" fill="hold">
                            <p:stCondLst>
                              <p:cond delay="3000"/>
                            </p:stCondLst>
                            <p:childTnLst>
                              <p:par>
                                <p:cTn id="13" presetID="10" presetClass="entr" presetSubtype="0"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1500"/>
                                        <p:tgtEl>
                                          <p:spTgt spid="4">
                                            <p:txEl>
                                              <p:pRg st="2" end="2"/>
                                            </p:txEl>
                                          </p:spTgt>
                                        </p:tgtEl>
                                      </p:cBhvr>
                                    </p:animEffect>
                                  </p:childTnLst>
                                </p:cTn>
                              </p:par>
                            </p:childTnLst>
                          </p:cTn>
                        </p:par>
                        <p:par>
                          <p:cTn id="16" fill="hold">
                            <p:stCondLst>
                              <p:cond delay="4500"/>
                            </p:stCondLst>
                            <p:childTnLst>
                              <p:par>
                                <p:cTn id="17" presetID="10" presetClass="entr" presetSubtype="0" fill="hold" grpId="0"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1500"/>
                                        <p:tgtEl>
                                          <p:spTgt spid="4">
                                            <p:txEl>
                                              <p:pRg st="3" end="3"/>
                                            </p:txEl>
                                          </p:spTgt>
                                        </p:tgtEl>
                                      </p:cBhvr>
                                    </p:animEffect>
                                  </p:childTnLst>
                                </p:cTn>
                              </p:par>
                            </p:childTnLst>
                          </p:cTn>
                        </p:par>
                        <p:par>
                          <p:cTn id="20" fill="hold">
                            <p:stCondLst>
                              <p:cond delay="6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9F0E1748-5A63-CCAD-65B2-FB5DB78846F2}"/>
              </a:ext>
            </a:extLst>
          </p:cNvPr>
          <p:cNvSpPr>
            <a:spLocks noGrp="1"/>
          </p:cNvSpPr>
          <p:nvPr>
            <p:ph sz="quarter" idx="10"/>
          </p:nvPr>
        </p:nvSpPr>
        <p:spPr>
          <a:xfrm>
            <a:off x="1493926" y="1387461"/>
            <a:ext cx="4741817" cy="4521614"/>
          </a:xfrm>
        </p:spPr>
        <p:txBody>
          <a:bodyPr rtlCol="0">
            <a:normAutofit/>
          </a:bodyPr>
          <a:lstStyle>
            <a:defPPr>
              <a:defRPr lang="fr-FR"/>
            </a:defPPr>
          </a:lstStyle>
          <a:p>
            <a:pPr marL="0" indent="0" rtl="0">
              <a:buNone/>
            </a:pPr>
            <a:r>
              <a:rPr lang="fr-FR" sz="1800" dirty="0">
                <a:solidFill>
                  <a:schemeClr val="accent2">
                    <a:lumMod val="75000"/>
                  </a:schemeClr>
                </a:solidFill>
                <a:latin typeface="Tisa Offc Serif Pro "/>
              </a:rPr>
              <a:t>Autres outils et technologies</a:t>
            </a:r>
          </a:p>
          <a:p>
            <a:r>
              <a:rPr lang="fr-FR" sz="1800" dirty="0">
                <a:solidFill>
                  <a:schemeClr val="accent6"/>
                </a:solidFill>
                <a:latin typeface="Tisa Offc Serif Pro "/>
              </a:rPr>
              <a:t>Gestion de version : </a:t>
            </a:r>
            <a:r>
              <a:rPr lang="fr-FR" sz="1800" dirty="0">
                <a:latin typeface="Tisa Offc Serif Pro "/>
              </a:rPr>
              <a:t>Git (pour suivre les modifications de ton code)</a:t>
            </a:r>
          </a:p>
          <a:p>
            <a:pPr marL="0" indent="0">
              <a:buNone/>
            </a:pPr>
            <a:r>
              <a:rPr lang="fr-FR" sz="1800" dirty="0">
                <a:solidFill>
                  <a:schemeClr val="accent2">
                    <a:lumMod val="75000"/>
                  </a:schemeClr>
                </a:solidFill>
                <a:latin typeface="Tisa Offc Serif Pro "/>
              </a:rPr>
              <a:t>Hébergement </a:t>
            </a:r>
          </a:p>
          <a:p>
            <a:pPr rtl="0"/>
            <a:r>
              <a:rPr lang="fr-FR" sz="1800" dirty="0" err="1">
                <a:latin typeface="Tisa Offc Serif Pro "/>
              </a:rPr>
              <a:t>Heroku</a:t>
            </a:r>
            <a:r>
              <a:rPr lang="fr-FR" sz="1800" dirty="0">
                <a:latin typeface="Tisa Offc Serif Pro "/>
              </a:rPr>
              <a:t> (facile à utiliser, idéal pour les projets de démonstration)</a:t>
            </a:r>
          </a:p>
          <a:p>
            <a:pPr rtl="0"/>
            <a:r>
              <a:rPr lang="fr-FR" sz="1800" dirty="0">
                <a:latin typeface="Tisa Offc Serif Pro "/>
              </a:rPr>
              <a:t>AWS (Amazon Web Services) (flexible, puissant, adapté aux applications en production)</a:t>
            </a:r>
          </a:p>
          <a:p>
            <a:pPr rtl="0"/>
            <a:r>
              <a:rPr lang="fr-FR" sz="1800" dirty="0">
                <a:latin typeface="Tisa Offc Serif Pro "/>
              </a:rPr>
              <a:t>Google Cloud Platform</a:t>
            </a:r>
          </a:p>
        </p:txBody>
      </p:sp>
      <p:sp>
        <p:nvSpPr>
          <p:cNvPr id="7" name="Espace réservé du contenu 6">
            <a:extLst>
              <a:ext uri="{FF2B5EF4-FFF2-40B4-BE49-F238E27FC236}">
                <a16:creationId xmlns:a16="http://schemas.microsoft.com/office/drawing/2014/main" id="{39118A24-4E50-F77D-EF17-46A29F012C34}"/>
              </a:ext>
            </a:extLst>
          </p:cNvPr>
          <p:cNvSpPr>
            <a:spLocks noGrp="1"/>
          </p:cNvSpPr>
          <p:nvPr>
            <p:ph sz="quarter" idx="11"/>
          </p:nvPr>
        </p:nvSpPr>
        <p:spPr>
          <a:xfrm>
            <a:off x="6766561" y="1606729"/>
            <a:ext cx="4741817" cy="4083077"/>
          </a:xfrm>
        </p:spPr>
        <p:txBody>
          <a:bodyPr rtlCol="0">
            <a:normAutofit/>
          </a:bodyPr>
          <a:lstStyle>
            <a:defPPr>
              <a:defRPr lang="fr-FR"/>
            </a:defPPr>
          </a:lstStyle>
          <a:p>
            <a:r>
              <a:rPr lang="fr-FR" dirty="0">
                <a:solidFill>
                  <a:schemeClr val="accent2">
                    <a:lumMod val="75000"/>
                  </a:schemeClr>
                </a:solidFill>
                <a:latin typeface="Tisa Offc Serif Pro "/>
              </a:rPr>
              <a:t>Tests </a:t>
            </a:r>
          </a:p>
          <a:p>
            <a:pPr marL="342900" indent="-342900">
              <a:buFont typeface="Arial" panose="020B0604020202020204" pitchFamily="34" charset="0"/>
              <a:buChar char="•"/>
            </a:pPr>
            <a:r>
              <a:rPr lang="fr-FR" dirty="0">
                <a:latin typeface="Tisa Offc Serif Pro "/>
              </a:rPr>
              <a:t>JUnit et </a:t>
            </a:r>
            <a:r>
              <a:rPr lang="fr-FR" dirty="0" err="1">
                <a:latin typeface="Tisa Offc Serif Pro "/>
              </a:rPr>
              <a:t>Mockito</a:t>
            </a:r>
            <a:r>
              <a:rPr lang="fr-FR" dirty="0">
                <a:latin typeface="Tisa Offc Serif Pro "/>
              </a:rPr>
              <a:t> (pour les tests unitaires)</a:t>
            </a:r>
          </a:p>
          <a:p>
            <a:pPr marL="342900" indent="-342900">
              <a:buFont typeface="Arial" panose="020B0604020202020204" pitchFamily="34" charset="0"/>
              <a:buChar char="•"/>
            </a:pPr>
            <a:r>
              <a:rPr lang="fr-FR" dirty="0" err="1">
                <a:latin typeface="Tisa Offc Serif Pro "/>
              </a:rPr>
              <a:t>Selenium</a:t>
            </a:r>
            <a:r>
              <a:rPr lang="fr-FR" dirty="0">
                <a:latin typeface="Tisa Offc Serif Pro "/>
              </a:rPr>
              <a:t> (pour les tests d'intégration et d'interface utilisateur)</a:t>
            </a:r>
          </a:p>
          <a:p>
            <a:r>
              <a:rPr lang="fr-FR" dirty="0">
                <a:solidFill>
                  <a:schemeClr val="accent2">
                    <a:lumMod val="75000"/>
                  </a:schemeClr>
                </a:solidFill>
                <a:latin typeface="Tisa Offc Serif Pro "/>
              </a:rPr>
              <a:t>Intégration continue / Déploiement continu (CI/CD) </a:t>
            </a:r>
          </a:p>
          <a:p>
            <a:pPr marL="342900" indent="-342900" rtl="0">
              <a:buFont typeface="Arial" panose="020B0604020202020204" pitchFamily="34" charset="0"/>
              <a:buChar char="•"/>
            </a:pPr>
            <a:r>
              <a:rPr lang="fr-FR" dirty="0">
                <a:latin typeface="Tisa Offc Serif Pro "/>
              </a:rPr>
              <a:t>Jenkins</a:t>
            </a:r>
          </a:p>
        </p:txBody>
      </p:sp>
      <p:sp>
        <p:nvSpPr>
          <p:cNvPr id="3" name="Espace réservé du numéro de diapositive 2">
            <a:extLst>
              <a:ext uri="{FF2B5EF4-FFF2-40B4-BE49-F238E27FC236}">
                <a16:creationId xmlns:a16="http://schemas.microsoft.com/office/drawing/2014/main" id="{D9D6A759-37B6-1E14-BD05-D652BEECEA33}"/>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rtl="0"/>
              <a:t>10</a:t>
            </a:fld>
            <a:endParaRPr lang="fr-FR" dirty="0"/>
          </a:p>
        </p:txBody>
      </p:sp>
    </p:spTree>
    <p:extLst>
      <p:ext uri="{BB962C8B-B14F-4D97-AF65-F5344CB8AC3E}">
        <p14:creationId xmlns:p14="http://schemas.microsoft.com/office/powerpoint/2010/main" val="95213535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750"/>
                                        <p:tgtEl>
                                          <p:spTgt spid="6">
                                            <p:txEl>
                                              <p:pRg st="0" end="0"/>
                                            </p:txEl>
                                          </p:spTgt>
                                        </p:tgtEl>
                                      </p:cBhvr>
                                    </p:animEffect>
                                  </p:childTnLst>
                                </p:cTn>
                              </p:par>
                            </p:childTnLst>
                          </p:cTn>
                        </p:par>
                        <p:par>
                          <p:cTn id="8" fill="hold">
                            <p:stCondLst>
                              <p:cond delay="750"/>
                            </p:stCondLst>
                            <p:childTnLst>
                              <p:par>
                                <p:cTn id="9" presetID="10" presetClass="entr" presetSubtype="0"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fade">
                                      <p:cBhvr>
                                        <p:cTn id="11" dur="750"/>
                                        <p:tgtEl>
                                          <p:spTgt spid="6">
                                            <p:txEl>
                                              <p:pRg st="1" end="1"/>
                                            </p:txEl>
                                          </p:spTgt>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750"/>
                                        <p:tgtEl>
                                          <p:spTgt spid="6">
                                            <p:txEl>
                                              <p:pRg st="2" end="2"/>
                                            </p:txEl>
                                          </p:spTgt>
                                        </p:tgtEl>
                                      </p:cBhvr>
                                    </p:animEffect>
                                  </p:childTnLst>
                                </p:cTn>
                              </p:par>
                            </p:childTnLst>
                          </p:cTn>
                        </p:par>
                        <p:par>
                          <p:cTn id="16" fill="hold">
                            <p:stCondLst>
                              <p:cond delay="2250"/>
                            </p:stCondLst>
                            <p:childTnLst>
                              <p:par>
                                <p:cTn id="17" presetID="10" presetClass="entr" presetSubtype="0"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fade">
                                      <p:cBhvr>
                                        <p:cTn id="19" dur="750"/>
                                        <p:tgtEl>
                                          <p:spTgt spid="6">
                                            <p:txEl>
                                              <p:pRg st="3" end="3"/>
                                            </p:txEl>
                                          </p:spTgt>
                                        </p:tgtEl>
                                      </p:cBhvr>
                                    </p:animEffect>
                                  </p:childTnLst>
                                </p:cTn>
                              </p:par>
                            </p:childTnLst>
                          </p:cTn>
                        </p:par>
                        <p:par>
                          <p:cTn id="20" fill="hold">
                            <p:stCondLst>
                              <p:cond delay="3000"/>
                            </p:stCondLst>
                            <p:childTnLst>
                              <p:par>
                                <p:cTn id="21" presetID="10" presetClass="entr" presetSubtype="0"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750"/>
                                        <p:tgtEl>
                                          <p:spTgt spid="6">
                                            <p:txEl>
                                              <p:pRg st="4" end="4"/>
                                            </p:txEl>
                                          </p:spTgt>
                                        </p:tgtEl>
                                      </p:cBhvr>
                                    </p:animEffect>
                                  </p:childTnLst>
                                </p:cTn>
                              </p:par>
                            </p:childTnLst>
                          </p:cTn>
                        </p:par>
                        <p:par>
                          <p:cTn id="24" fill="hold">
                            <p:stCondLst>
                              <p:cond delay="3750"/>
                            </p:stCondLst>
                            <p:childTnLst>
                              <p:par>
                                <p:cTn id="25" presetID="10" presetClass="entr" presetSubtype="0" fill="hold" grpId="0" nodeType="after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750"/>
                                        <p:tgtEl>
                                          <p:spTgt spid="6">
                                            <p:txEl>
                                              <p:pRg st="5" end="5"/>
                                            </p:txEl>
                                          </p:spTgt>
                                        </p:tgtEl>
                                      </p:cBhvr>
                                    </p:animEffect>
                                  </p:childTnLst>
                                </p:cTn>
                              </p:par>
                            </p:childTnLst>
                          </p:cTn>
                        </p:par>
                        <p:par>
                          <p:cTn id="28" fill="hold">
                            <p:stCondLst>
                              <p:cond delay="4500"/>
                            </p:stCondLst>
                            <p:childTnLst>
                              <p:par>
                                <p:cTn id="29" presetID="10" presetClass="entr" presetSubtype="0" fill="hold" grpId="0" nodeType="afterEffect">
                                  <p:stCondLst>
                                    <p:cond delay="100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750"/>
                                        <p:tgtEl>
                                          <p:spTgt spid="7">
                                            <p:txEl>
                                              <p:pRg st="0" end="0"/>
                                            </p:txEl>
                                          </p:spTgt>
                                        </p:tgtEl>
                                      </p:cBhvr>
                                    </p:animEffect>
                                  </p:childTnLst>
                                </p:cTn>
                              </p:par>
                            </p:childTnLst>
                          </p:cTn>
                        </p:par>
                        <p:par>
                          <p:cTn id="32" fill="hold">
                            <p:stCondLst>
                              <p:cond delay="6250"/>
                            </p:stCondLst>
                            <p:childTnLst>
                              <p:par>
                                <p:cTn id="33" presetID="10" presetClass="entr" presetSubtype="0" fill="hold" grpId="0" nodeType="afterEffect">
                                  <p:stCondLst>
                                    <p:cond delay="1000"/>
                                  </p:stCondLst>
                                  <p:childTnLst>
                                    <p:set>
                                      <p:cBhvr>
                                        <p:cTn id="34" dur="1" fill="hold">
                                          <p:stCondLst>
                                            <p:cond delay="0"/>
                                          </p:stCondLst>
                                        </p:cTn>
                                        <p:tgtEl>
                                          <p:spTgt spid="7">
                                            <p:txEl>
                                              <p:pRg st="1" end="1"/>
                                            </p:txEl>
                                          </p:spTgt>
                                        </p:tgtEl>
                                        <p:attrNameLst>
                                          <p:attrName>style.visibility</p:attrName>
                                        </p:attrNameLst>
                                      </p:cBhvr>
                                      <p:to>
                                        <p:strVal val="visible"/>
                                      </p:to>
                                    </p:set>
                                    <p:animEffect transition="in" filter="fade">
                                      <p:cBhvr>
                                        <p:cTn id="35" dur="750"/>
                                        <p:tgtEl>
                                          <p:spTgt spid="7">
                                            <p:txEl>
                                              <p:pRg st="1" end="1"/>
                                            </p:txEl>
                                          </p:spTgt>
                                        </p:tgtEl>
                                      </p:cBhvr>
                                    </p:animEffect>
                                  </p:childTnLst>
                                </p:cTn>
                              </p:par>
                            </p:childTnLst>
                          </p:cTn>
                        </p:par>
                        <p:par>
                          <p:cTn id="36" fill="hold">
                            <p:stCondLst>
                              <p:cond delay="8000"/>
                            </p:stCondLst>
                            <p:childTnLst>
                              <p:par>
                                <p:cTn id="37" presetID="10" presetClass="entr" presetSubtype="0" fill="hold" grpId="0" nodeType="afterEffect">
                                  <p:stCondLst>
                                    <p:cond delay="1000"/>
                                  </p:stCondLst>
                                  <p:childTnLst>
                                    <p:set>
                                      <p:cBhvr>
                                        <p:cTn id="38" dur="1" fill="hold">
                                          <p:stCondLst>
                                            <p:cond delay="0"/>
                                          </p:stCondLst>
                                        </p:cTn>
                                        <p:tgtEl>
                                          <p:spTgt spid="7">
                                            <p:txEl>
                                              <p:pRg st="2" end="2"/>
                                            </p:txEl>
                                          </p:spTgt>
                                        </p:tgtEl>
                                        <p:attrNameLst>
                                          <p:attrName>style.visibility</p:attrName>
                                        </p:attrNameLst>
                                      </p:cBhvr>
                                      <p:to>
                                        <p:strVal val="visible"/>
                                      </p:to>
                                    </p:set>
                                    <p:animEffect transition="in" filter="fade">
                                      <p:cBhvr>
                                        <p:cTn id="39" dur="750"/>
                                        <p:tgtEl>
                                          <p:spTgt spid="7">
                                            <p:txEl>
                                              <p:pRg st="2" end="2"/>
                                            </p:txEl>
                                          </p:spTgt>
                                        </p:tgtEl>
                                      </p:cBhvr>
                                    </p:animEffect>
                                  </p:childTnLst>
                                </p:cTn>
                              </p:par>
                            </p:childTnLst>
                          </p:cTn>
                        </p:par>
                        <p:par>
                          <p:cTn id="40" fill="hold">
                            <p:stCondLst>
                              <p:cond delay="9750"/>
                            </p:stCondLst>
                            <p:childTnLst>
                              <p:par>
                                <p:cTn id="41" presetID="10" presetClass="entr" presetSubtype="0" fill="hold" grpId="0" nodeType="afterEffect">
                                  <p:stCondLst>
                                    <p:cond delay="1000"/>
                                  </p:stCondLst>
                                  <p:childTnLst>
                                    <p:set>
                                      <p:cBhvr>
                                        <p:cTn id="42" dur="1" fill="hold">
                                          <p:stCondLst>
                                            <p:cond delay="0"/>
                                          </p:stCondLst>
                                        </p:cTn>
                                        <p:tgtEl>
                                          <p:spTgt spid="7">
                                            <p:txEl>
                                              <p:pRg st="3" end="3"/>
                                            </p:txEl>
                                          </p:spTgt>
                                        </p:tgtEl>
                                        <p:attrNameLst>
                                          <p:attrName>style.visibility</p:attrName>
                                        </p:attrNameLst>
                                      </p:cBhvr>
                                      <p:to>
                                        <p:strVal val="visible"/>
                                      </p:to>
                                    </p:set>
                                    <p:animEffect transition="in" filter="fade">
                                      <p:cBhvr>
                                        <p:cTn id="43" dur="750"/>
                                        <p:tgtEl>
                                          <p:spTgt spid="7">
                                            <p:txEl>
                                              <p:pRg st="3" end="3"/>
                                            </p:txEl>
                                          </p:spTgt>
                                        </p:tgtEl>
                                      </p:cBhvr>
                                    </p:animEffect>
                                  </p:childTnLst>
                                </p:cTn>
                              </p:par>
                            </p:childTnLst>
                          </p:cTn>
                        </p:par>
                        <p:par>
                          <p:cTn id="44" fill="hold">
                            <p:stCondLst>
                              <p:cond delay="11500"/>
                            </p:stCondLst>
                            <p:childTnLst>
                              <p:par>
                                <p:cTn id="45" presetID="10" presetClass="entr" presetSubtype="0" fill="hold" grpId="0" nodeType="afterEffect">
                                  <p:stCondLst>
                                    <p:cond delay="1000"/>
                                  </p:stCondLst>
                                  <p:childTnLst>
                                    <p:set>
                                      <p:cBhvr>
                                        <p:cTn id="46" dur="1" fill="hold">
                                          <p:stCondLst>
                                            <p:cond delay="0"/>
                                          </p:stCondLst>
                                        </p:cTn>
                                        <p:tgtEl>
                                          <p:spTgt spid="7">
                                            <p:txEl>
                                              <p:pRg st="4" end="4"/>
                                            </p:txEl>
                                          </p:spTgt>
                                        </p:tgtEl>
                                        <p:attrNameLst>
                                          <p:attrName>style.visibility</p:attrName>
                                        </p:attrNameLst>
                                      </p:cBhvr>
                                      <p:to>
                                        <p:strVal val="visible"/>
                                      </p:to>
                                    </p:set>
                                    <p:animEffect transition="in" filter="fade">
                                      <p:cBhvr>
                                        <p:cTn id="47" dur="75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E52EF1C1-5933-D909-38D2-D22F630A85FE}"/>
              </a:ext>
            </a:extLst>
          </p:cNvPr>
          <p:cNvSpPr>
            <a:spLocks noGrp="1"/>
          </p:cNvSpPr>
          <p:nvPr>
            <p:ph type="title"/>
          </p:nvPr>
        </p:nvSpPr>
        <p:spPr>
          <a:xfrm>
            <a:off x="1468814" y="503852"/>
            <a:ext cx="9808773" cy="1427585"/>
          </a:xfrm>
        </p:spPr>
        <p:txBody>
          <a:bodyPr rtlCol="0"/>
          <a:lstStyle>
            <a:defPPr>
              <a:defRPr lang="fr-FR"/>
            </a:defPPr>
          </a:lstStyle>
          <a:p>
            <a:pPr rtl="0"/>
            <a:r>
              <a:rPr lang="fr-FR" dirty="0"/>
              <a:t>Pourquoi Java?</a:t>
            </a:r>
          </a:p>
        </p:txBody>
      </p:sp>
      <p:sp>
        <p:nvSpPr>
          <p:cNvPr id="2" name="Espace réservé du numéro de diapositive 1">
            <a:extLst>
              <a:ext uri="{FF2B5EF4-FFF2-40B4-BE49-F238E27FC236}">
                <a16:creationId xmlns:a16="http://schemas.microsoft.com/office/drawing/2014/main" id="{C1D94129-1999-7159-E6E3-7D6C478655BD}"/>
              </a:ext>
            </a:extLst>
          </p:cNvPr>
          <p:cNvSpPr>
            <a:spLocks noGrp="1"/>
          </p:cNvSpPr>
          <p:nvPr>
            <p:ph type="sldNum" sz="quarter" idx="15"/>
          </p:nvPr>
        </p:nvSpPr>
        <p:spPr>
          <a:xfrm>
            <a:off x="412136" y="5943601"/>
            <a:ext cx="968983" cy="651912"/>
          </a:xfrm>
        </p:spPr>
        <p:txBody>
          <a:bodyPr rtlCol="0"/>
          <a:lstStyle>
            <a:defPPr>
              <a:defRPr lang="fr-FR"/>
            </a:defPPr>
          </a:lstStyle>
          <a:p>
            <a:pPr rtl="0"/>
            <a:fld id="{18D65601-5AE2-46FC-B138-694DDD2B510D}" type="slidenum">
              <a:rPr lang="fr-FR" smtClean="0"/>
              <a:pPr rtl="0"/>
              <a:t>11</a:t>
            </a:fld>
            <a:endParaRPr lang="fr-FR" dirty="0"/>
          </a:p>
        </p:txBody>
      </p:sp>
      <p:sp>
        <p:nvSpPr>
          <p:cNvPr id="3" name="Espace réservé du contenu 2">
            <a:extLst>
              <a:ext uri="{FF2B5EF4-FFF2-40B4-BE49-F238E27FC236}">
                <a16:creationId xmlns:a16="http://schemas.microsoft.com/office/drawing/2014/main" id="{43B3004F-891E-E0B4-FC2D-A5949EC33A3D}"/>
              </a:ext>
            </a:extLst>
          </p:cNvPr>
          <p:cNvSpPr>
            <a:spLocks noGrp="1"/>
          </p:cNvSpPr>
          <p:nvPr>
            <p:ph sz="quarter" idx="11"/>
          </p:nvPr>
        </p:nvSpPr>
        <p:spPr>
          <a:xfrm>
            <a:off x="6583680" y="2340122"/>
            <a:ext cx="5196184" cy="4301412"/>
          </a:xfrm>
        </p:spPr>
        <p:txBody>
          <a:bodyPr rtlCol="0">
            <a:normAutofit fontScale="92500" lnSpcReduction="20000"/>
          </a:bodyPr>
          <a:lstStyle>
            <a:defPPr>
              <a:defRPr lang="fr-FR"/>
            </a:defPPr>
          </a:lstStyle>
          <a:p>
            <a:pPr marL="342900" indent="-342900" rtl="0">
              <a:buFont typeface="Arial" panose="020B0604020202020204" pitchFamily="34" charset="0"/>
              <a:buChar char="•"/>
            </a:pPr>
            <a:r>
              <a:rPr lang="fr-FR" dirty="0">
                <a:solidFill>
                  <a:schemeClr val="accent6"/>
                </a:solidFill>
                <a:latin typeface="Tisa Offc Serif Pro "/>
              </a:rPr>
              <a:t>Robustesse et stabilité : </a:t>
            </a:r>
            <a:r>
              <a:rPr lang="fr-FR" dirty="0">
                <a:latin typeface="Tisa Offc Serif Pro "/>
              </a:rPr>
              <a:t>Java est un langage éprouvé, connu pour sa robustesse et sa stabilité. Il est capable de gérer des applications complexes et critiques sans problème.</a:t>
            </a:r>
          </a:p>
          <a:p>
            <a:pPr marL="342900" indent="-342900" rtl="0">
              <a:buFont typeface="Arial" panose="020B0604020202020204" pitchFamily="34" charset="0"/>
              <a:buChar char="•"/>
            </a:pPr>
            <a:r>
              <a:rPr lang="fr-FR" dirty="0">
                <a:solidFill>
                  <a:schemeClr val="accent6"/>
                </a:solidFill>
                <a:latin typeface="Tisa Offc Serif Pro "/>
              </a:rPr>
              <a:t>Performance : </a:t>
            </a:r>
            <a:r>
              <a:rPr lang="fr-FR" dirty="0">
                <a:latin typeface="Tisa Offc Serif Pro "/>
              </a:rPr>
              <a:t>Java offre de bonnes performances, ce qui est important pour une application qui doit gérer un grand nombre d'utilisateurs et de données.</a:t>
            </a:r>
          </a:p>
          <a:p>
            <a:pPr marL="342900" indent="-342900" rtl="0">
              <a:buFont typeface="Arial" panose="020B0604020202020204" pitchFamily="34" charset="0"/>
              <a:buChar char="•"/>
            </a:pPr>
            <a:r>
              <a:rPr lang="fr-FR" dirty="0">
                <a:solidFill>
                  <a:schemeClr val="accent6"/>
                </a:solidFill>
                <a:latin typeface="Tisa Offc Serif Pro "/>
              </a:rPr>
              <a:t>Portabilité : </a:t>
            </a:r>
            <a:r>
              <a:rPr lang="fr-FR" dirty="0">
                <a:latin typeface="Tisa Offc Serif Pro "/>
              </a:rPr>
              <a:t>Java est un langage portable, ce qui signifie que ton application peut être exécutée sur différents systèmes d'exploitation (Windows, Linux, </a:t>
            </a:r>
            <a:r>
              <a:rPr lang="fr-FR" dirty="0" err="1">
                <a:latin typeface="Tisa Offc Serif Pro "/>
              </a:rPr>
              <a:t>macOS</a:t>
            </a:r>
            <a:r>
              <a:rPr lang="fr-FR" dirty="0">
                <a:latin typeface="Tisa Offc Serif Pro "/>
              </a:rPr>
              <a:t>) sans modification du code.</a:t>
            </a:r>
          </a:p>
        </p:txBody>
      </p:sp>
      <p:pic>
        <p:nvPicPr>
          <p:cNvPr id="13" name="Espace réservé pour une image  12" descr="Une image contenant conception&#10;&#10;Description générée automatiquement avec une confiance moyenne">
            <a:extLst>
              <a:ext uri="{FF2B5EF4-FFF2-40B4-BE49-F238E27FC236}">
                <a16:creationId xmlns:a16="http://schemas.microsoft.com/office/drawing/2014/main" id="{A619D6F1-7B9A-E443-4A79-F28ECB901003}"/>
              </a:ext>
            </a:extLst>
          </p:cNvPr>
          <p:cNvPicPr>
            <a:picLocks noGrp="1" noChangeAspect="1"/>
          </p:cNvPicPr>
          <p:nvPr>
            <p:ph type="pic" sz="quarter" idx="12"/>
          </p:nvPr>
        </p:nvPicPr>
        <p:blipFill>
          <a:blip r:embed="rId3"/>
          <a:srcRect l="23120" r="23120"/>
          <a:stretch>
            <a:fillRect/>
          </a:stretch>
        </p:blipFill>
        <p:spPr>
          <a:xfrm>
            <a:off x="1503363" y="2052638"/>
            <a:ext cx="4592637" cy="4805362"/>
          </a:xfrm>
        </p:spPr>
      </p:pic>
    </p:spTree>
    <p:extLst>
      <p:ext uri="{BB962C8B-B14F-4D97-AF65-F5344CB8AC3E}">
        <p14:creationId xmlns:p14="http://schemas.microsoft.com/office/powerpoint/2010/main" val="71796549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2000"/>
                                        <p:tgtEl>
                                          <p:spTgt spid="13"/>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250"/>
                                        <p:tgtEl>
                                          <p:spTgt spid="3">
                                            <p:txEl>
                                              <p:pRg st="0" end="0"/>
                                            </p:txEl>
                                          </p:spTgt>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250"/>
                                        <p:tgtEl>
                                          <p:spTgt spid="3">
                                            <p:txEl>
                                              <p:pRg st="1" end="1"/>
                                            </p:txEl>
                                          </p:spTgt>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25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EAEA19-C26E-66CA-8879-C5B1AC288361}"/>
              </a:ext>
            </a:extLst>
          </p:cNvPr>
          <p:cNvSpPr>
            <a:spLocks noGrp="1"/>
          </p:cNvSpPr>
          <p:nvPr>
            <p:ph type="title"/>
          </p:nvPr>
        </p:nvSpPr>
        <p:spPr>
          <a:xfrm>
            <a:off x="1353828" y="3429000"/>
            <a:ext cx="9923770" cy="1119656"/>
          </a:xfrm>
        </p:spPr>
        <p:txBody>
          <a:bodyPr/>
          <a:lstStyle/>
          <a:p>
            <a:r>
              <a:rPr lang="fr-FR" dirty="0"/>
              <a:t>Pourquoi </a:t>
            </a:r>
            <a:r>
              <a:rPr lang="fr-FR" dirty="0" err="1"/>
              <a:t>Angular</a:t>
            </a:r>
            <a:r>
              <a:rPr lang="fr-FR" dirty="0"/>
              <a:t> ?</a:t>
            </a:r>
          </a:p>
        </p:txBody>
      </p:sp>
      <p:sp>
        <p:nvSpPr>
          <p:cNvPr id="4" name="Espace réservé du texte 3">
            <a:extLst>
              <a:ext uri="{FF2B5EF4-FFF2-40B4-BE49-F238E27FC236}">
                <a16:creationId xmlns:a16="http://schemas.microsoft.com/office/drawing/2014/main" id="{B702ECAB-34DB-2833-91F4-6610C95E8D66}"/>
              </a:ext>
            </a:extLst>
          </p:cNvPr>
          <p:cNvSpPr>
            <a:spLocks noGrp="1"/>
          </p:cNvSpPr>
          <p:nvPr>
            <p:ph type="body" sz="quarter" idx="12"/>
          </p:nvPr>
        </p:nvSpPr>
        <p:spPr>
          <a:xfrm>
            <a:off x="1353828" y="4872446"/>
            <a:ext cx="9923770" cy="1724298"/>
          </a:xfrm>
        </p:spPr>
        <p:txBody>
          <a:bodyPr>
            <a:normAutofit/>
          </a:bodyPr>
          <a:lstStyle/>
          <a:p>
            <a:pPr marL="342900" indent="-342900">
              <a:buFont typeface="Arial" panose="020B0604020202020204" pitchFamily="34" charset="0"/>
              <a:buChar char="•"/>
            </a:pPr>
            <a:r>
              <a:rPr lang="fr-FR" dirty="0" err="1">
                <a:latin typeface="Tisa Offc Serif Pro "/>
              </a:rPr>
              <a:t>Angular</a:t>
            </a:r>
            <a:r>
              <a:rPr lang="fr-FR" dirty="0">
                <a:latin typeface="Tisa Offc Serif Pro "/>
              </a:rPr>
              <a:t> est un </a:t>
            </a:r>
            <a:r>
              <a:rPr lang="fr-FR" dirty="0" err="1">
                <a:latin typeface="Tisa Offc Serif Pro "/>
              </a:rPr>
              <a:t>framework</a:t>
            </a:r>
            <a:r>
              <a:rPr lang="fr-FR" dirty="0">
                <a:latin typeface="Tisa Offc Serif Pro "/>
              </a:rPr>
              <a:t> </a:t>
            </a:r>
            <a:r>
              <a:rPr lang="fr-FR" dirty="0" err="1">
                <a:latin typeface="Tisa Offc Serif Pro "/>
              </a:rPr>
              <a:t>front-end</a:t>
            </a:r>
            <a:r>
              <a:rPr lang="fr-FR" dirty="0">
                <a:latin typeface="Tisa Offc Serif Pro "/>
              </a:rPr>
              <a:t> complet : </a:t>
            </a:r>
            <a:r>
              <a:rPr lang="fr-FR" dirty="0" err="1">
                <a:latin typeface="Tisa Offc Serif Pro "/>
              </a:rPr>
              <a:t>Angular</a:t>
            </a:r>
            <a:r>
              <a:rPr lang="fr-FR" dirty="0">
                <a:latin typeface="Tisa Offc Serif Pro "/>
              </a:rPr>
              <a:t> prend en charge la création de l'interface utilisateur, la gestion des données, le routage, etc. Tu n'as pas besoin d'un moteur de </a:t>
            </a:r>
            <a:r>
              <a:rPr lang="fr-FR" dirty="0" err="1">
                <a:latin typeface="Tisa Offc Serif Pro "/>
              </a:rPr>
              <a:t>templates</a:t>
            </a:r>
            <a:r>
              <a:rPr lang="fr-FR" dirty="0">
                <a:latin typeface="Tisa Offc Serif Pro "/>
              </a:rPr>
              <a:t> côté serveur comme </a:t>
            </a:r>
            <a:r>
              <a:rPr lang="fr-FR" dirty="0" err="1">
                <a:latin typeface="Tisa Offc Serif Pro "/>
              </a:rPr>
              <a:t>Thymeleaf</a:t>
            </a:r>
            <a:r>
              <a:rPr lang="fr-FR" dirty="0">
                <a:latin typeface="Tisa Offc Serif Pro "/>
              </a:rPr>
              <a:t>.</a:t>
            </a:r>
          </a:p>
          <a:p>
            <a:pPr marL="342900" indent="-342900">
              <a:buFont typeface="Arial" panose="020B0604020202020204" pitchFamily="34" charset="0"/>
              <a:buChar char="•"/>
            </a:pPr>
            <a:r>
              <a:rPr lang="fr-FR" dirty="0">
                <a:solidFill>
                  <a:schemeClr val="accent6"/>
                </a:solidFill>
                <a:latin typeface="Tisa Offc Serif Pro "/>
              </a:rPr>
              <a:t>API REST : </a:t>
            </a:r>
            <a:r>
              <a:rPr lang="fr-FR" dirty="0" err="1">
                <a:latin typeface="Tisa Offc Serif Pro "/>
              </a:rPr>
              <a:t>Angular</a:t>
            </a:r>
            <a:r>
              <a:rPr lang="fr-FR" dirty="0">
                <a:latin typeface="Tisa Offc Serif Pro "/>
              </a:rPr>
              <a:t> communique avec ton </a:t>
            </a:r>
            <a:r>
              <a:rPr lang="fr-FR" dirty="0" err="1">
                <a:latin typeface="Tisa Offc Serif Pro "/>
              </a:rPr>
              <a:t>back-end</a:t>
            </a:r>
            <a:r>
              <a:rPr lang="fr-FR" dirty="0">
                <a:latin typeface="Tisa Offc Serif Pro "/>
              </a:rPr>
              <a:t> Spring via une API REST. Ton </a:t>
            </a:r>
            <a:r>
              <a:rPr lang="fr-FR" dirty="0" err="1">
                <a:latin typeface="Tisa Offc Serif Pro "/>
              </a:rPr>
              <a:t>back-end</a:t>
            </a:r>
            <a:r>
              <a:rPr lang="fr-FR" dirty="0">
                <a:latin typeface="Tisa Offc Serif Pro "/>
              </a:rPr>
              <a:t> fournit les données au format JSON, et </a:t>
            </a:r>
            <a:r>
              <a:rPr lang="fr-FR" dirty="0" err="1">
                <a:latin typeface="Tisa Offc Serif Pro "/>
              </a:rPr>
              <a:t>Angular</a:t>
            </a:r>
            <a:r>
              <a:rPr lang="fr-FR" dirty="0">
                <a:latin typeface="Tisa Offc Serif Pro "/>
              </a:rPr>
              <a:t> les affiche dans l'interface utilisateur.</a:t>
            </a:r>
          </a:p>
        </p:txBody>
      </p:sp>
      <p:pic>
        <p:nvPicPr>
          <p:cNvPr id="42" name="Espace réservé pour une image  41" descr="Une image contenant Police, Graphique, logo, graphisme">
            <a:extLst>
              <a:ext uri="{FF2B5EF4-FFF2-40B4-BE49-F238E27FC236}">
                <a16:creationId xmlns:a16="http://schemas.microsoft.com/office/drawing/2014/main" id="{299D867D-7F06-60C6-B93B-940E49FD780E}"/>
              </a:ext>
            </a:extLst>
          </p:cNvPr>
          <p:cNvPicPr>
            <a:picLocks noGrp="1" noChangeAspect="1"/>
          </p:cNvPicPr>
          <p:nvPr>
            <p:ph type="pic" sz="quarter" idx="13"/>
          </p:nvPr>
        </p:nvPicPr>
        <p:blipFill>
          <a:blip r:embed="rId2"/>
          <a:srcRect t="27955" b="27955"/>
          <a:stretch>
            <a:fillRect/>
          </a:stretch>
        </p:blipFill>
        <p:spPr/>
      </p:pic>
    </p:spTree>
    <p:extLst>
      <p:ext uri="{BB962C8B-B14F-4D97-AF65-F5344CB8AC3E}">
        <p14:creationId xmlns:p14="http://schemas.microsoft.com/office/powerpoint/2010/main" val="307169956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750"/>
                                        <p:tgtEl>
                                          <p:spTgt spid="4">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25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75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061384-8C2A-AC46-D296-2DF95CBF10BB}"/>
              </a:ext>
            </a:extLst>
          </p:cNvPr>
          <p:cNvSpPr>
            <a:spLocks noGrp="1"/>
          </p:cNvSpPr>
          <p:nvPr>
            <p:ph type="title"/>
          </p:nvPr>
        </p:nvSpPr>
        <p:spPr>
          <a:xfrm>
            <a:off x="1038031" y="1068169"/>
            <a:ext cx="10115939" cy="2681549"/>
          </a:xfrm>
        </p:spPr>
        <p:txBody>
          <a:bodyPr rtlCol="0"/>
          <a:lstStyle>
            <a:defPPr>
              <a:defRPr lang="fr-FR"/>
            </a:defPPr>
          </a:lstStyle>
          <a:p>
            <a:pPr rtl="0"/>
            <a:r>
              <a:rPr lang="fr-FR" dirty="0"/>
              <a:t>Qu'est-ce que Spring Boot ?</a:t>
            </a:r>
          </a:p>
        </p:txBody>
      </p:sp>
    </p:spTree>
    <p:extLst>
      <p:ext uri="{BB962C8B-B14F-4D97-AF65-F5344CB8AC3E}">
        <p14:creationId xmlns:p14="http://schemas.microsoft.com/office/powerpoint/2010/main" val="401133406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F2142F-C6AE-740C-CFC5-528E3756EA4B}"/>
              </a:ext>
            </a:extLst>
          </p:cNvPr>
          <p:cNvSpPr>
            <a:spLocks noGrp="1"/>
          </p:cNvSpPr>
          <p:nvPr>
            <p:ph type="title"/>
          </p:nvPr>
        </p:nvSpPr>
        <p:spPr>
          <a:xfrm>
            <a:off x="1317614" y="690511"/>
            <a:ext cx="5527323" cy="5253089"/>
          </a:xfrm>
        </p:spPr>
        <p:txBody>
          <a:bodyPr>
            <a:normAutofit fontScale="90000"/>
          </a:bodyPr>
          <a:lstStyle/>
          <a:p>
            <a:r>
              <a:rPr lang="fr-FR" sz="2800" dirty="0">
                <a:latin typeface="Tisa Offc Serif Pro "/>
              </a:rPr>
              <a:t>Spring Boot est un </a:t>
            </a:r>
            <a:r>
              <a:rPr lang="fr-FR" sz="2800" dirty="0" err="1">
                <a:latin typeface="Tisa Offc Serif Pro "/>
              </a:rPr>
              <a:t>framework</a:t>
            </a:r>
            <a:r>
              <a:rPr lang="fr-FR" sz="2800" dirty="0">
                <a:latin typeface="Tisa Offc Serif Pro "/>
              </a:rPr>
              <a:t> Java qui simplifie considérablement le développement d'applications Spring. Il prend en charge la configuration automatique, l'intégration facile des dépendances et embarque un serveur web, ce qui facilite le déploiement. Spring Boot permet aux développeurs de se concentrer sur la logique métier de leurs applications plutôt que sur la configuration fastidieuse.</a:t>
            </a:r>
          </a:p>
        </p:txBody>
      </p:sp>
      <p:pic>
        <p:nvPicPr>
          <p:cNvPr id="5" name="Espace réservé du contenu 4" descr="Une image contenant symbole, Graphique">
            <a:extLst>
              <a:ext uri="{FF2B5EF4-FFF2-40B4-BE49-F238E27FC236}">
                <a16:creationId xmlns:a16="http://schemas.microsoft.com/office/drawing/2014/main" id="{3152913B-A7D9-4B0B-583E-2A43EC035407}"/>
              </a:ext>
            </a:extLst>
          </p:cNvPr>
          <p:cNvPicPr>
            <a:picLocks noGrp="1" noChangeAspect="1"/>
          </p:cNvPicPr>
          <p:nvPr>
            <p:ph sz="quarter" idx="10"/>
          </p:nvPr>
        </p:nvPicPr>
        <p:blipFill>
          <a:blip r:embed="rId2"/>
          <a:stretch>
            <a:fillRect/>
          </a:stretch>
        </p:blipFill>
        <p:spPr>
          <a:xfrm>
            <a:off x="8081372" y="2972548"/>
            <a:ext cx="3466193" cy="3466193"/>
          </a:xfrm>
        </p:spPr>
      </p:pic>
    </p:spTree>
    <p:extLst>
      <p:ext uri="{BB962C8B-B14F-4D97-AF65-F5344CB8AC3E}">
        <p14:creationId xmlns:p14="http://schemas.microsoft.com/office/powerpoint/2010/main" val="41974300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nodeType="withEffect">
                                  <p:stCondLst>
                                    <p:cond delay="7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25AA6ED-97F0-825D-71BB-D4D461E7870C}"/>
              </a:ext>
            </a:extLst>
          </p:cNvPr>
          <p:cNvSpPr>
            <a:spLocks noGrp="1"/>
          </p:cNvSpPr>
          <p:nvPr>
            <p:ph type="title"/>
          </p:nvPr>
        </p:nvSpPr>
        <p:spPr>
          <a:xfrm>
            <a:off x="1468814" y="503852"/>
            <a:ext cx="9808773" cy="1427585"/>
          </a:xfrm>
        </p:spPr>
        <p:txBody>
          <a:bodyPr rtlCol="0"/>
          <a:lstStyle>
            <a:defPPr>
              <a:defRPr lang="fr-FR"/>
            </a:defPPr>
          </a:lstStyle>
          <a:p>
            <a:pPr rtl="0"/>
            <a:r>
              <a:rPr lang="fr-FR" dirty="0"/>
              <a:t>Pourquoi utiliser Spring Boot ?</a:t>
            </a:r>
          </a:p>
        </p:txBody>
      </p:sp>
      <p:sp>
        <p:nvSpPr>
          <p:cNvPr id="2" name="Espace réservé du contenu 1">
            <a:extLst>
              <a:ext uri="{FF2B5EF4-FFF2-40B4-BE49-F238E27FC236}">
                <a16:creationId xmlns:a16="http://schemas.microsoft.com/office/drawing/2014/main" id="{6059FD0C-3CC0-6307-C5F3-CCBE0B14A19F}"/>
              </a:ext>
            </a:extLst>
          </p:cNvPr>
          <p:cNvSpPr>
            <a:spLocks noGrp="1"/>
          </p:cNvSpPr>
          <p:nvPr>
            <p:ph sz="quarter" idx="11"/>
          </p:nvPr>
        </p:nvSpPr>
        <p:spPr>
          <a:xfrm>
            <a:off x="1468814" y="2148841"/>
            <a:ext cx="9464797" cy="3794760"/>
          </a:xfrm>
        </p:spPr>
        <p:txBody>
          <a:bodyPr rtlCol="0">
            <a:normAutofit/>
          </a:bodyPr>
          <a:lstStyle>
            <a:defPPr>
              <a:defRPr lang="fr-FR"/>
            </a:defPPr>
          </a:lstStyle>
          <a:p>
            <a:pPr marL="342900" indent="-342900" rtl="0">
              <a:buFont typeface="Arial" panose="020B0604020202020204" pitchFamily="34" charset="0"/>
              <a:buChar char="•"/>
            </a:pPr>
            <a:r>
              <a:rPr lang="fr-FR" dirty="0">
                <a:solidFill>
                  <a:schemeClr val="accent6"/>
                </a:solidFill>
                <a:latin typeface="Tisa Offc Serif Pro "/>
              </a:rPr>
              <a:t>Configuration simplifiée : </a:t>
            </a:r>
            <a:r>
              <a:rPr lang="fr-FR" dirty="0">
                <a:latin typeface="Tisa Offc Serif Pro "/>
              </a:rPr>
              <a:t>Spring Boot configure automatiquement de nombreux aspects de ton application, ce qui réduit considérablement le temps de configuration manuelle.</a:t>
            </a:r>
          </a:p>
          <a:p>
            <a:pPr marL="342900" indent="-342900" rtl="0">
              <a:buFont typeface="Arial" panose="020B0604020202020204" pitchFamily="34" charset="0"/>
              <a:buChar char="•"/>
            </a:pPr>
            <a:r>
              <a:rPr lang="fr-FR" dirty="0">
                <a:solidFill>
                  <a:schemeClr val="accent6"/>
                </a:solidFill>
                <a:latin typeface="Tisa Offc Serif Pro "/>
              </a:rPr>
              <a:t>Dépendances simplifiées : </a:t>
            </a:r>
            <a:r>
              <a:rPr lang="fr-FR" dirty="0">
                <a:latin typeface="Tisa Offc Serif Pro "/>
              </a:rPr>
              <a:t>Spring Boot gère les dépendances de ton projet, ce qui facilite l'ajout et la suppression de bibliothèques.</a:t>
            </a:r>
          </a:p>
          <a:p>
            <a:pPr marL="342900" indent="-342900" rtl="0">
              <a:buFont typeface="Arial" panose="020B0604020202020204" pitchFamily="34" charset="0"/>
              <a:buChar char="•"/>
            </a:pPr>
            <a:r>
              <a:rPr lang="fr-FR" dirty="0">
                <a:solidFill>
                  <a:schemeClr val="accent6"/>
                </a:solidFill>
                <a:latin typeface="Tisa Offc Serif Pro "/>
              </a:rPr>
              <a:t>Facilité de déploiement : </a:t>
            </a:r>
            <a:r>
              <a:rPr lang="fr-FR" dirty="0">
                <a:latin typeface="Tisa Offc Serif Pro "/>
              </a:rPr>
              <a:t>Spring Boot facilite le déploiement de ton application en créant un fichier JAR exécutable qui contient tout ce dont tu as besoin.</a:t>
            </a:r>
          </a:p>
          <a:p>
            <a:pPr marL="342900" indent="-342900" rtl="0">
              <a:buFont typeface="Arial" panose="020B0604020202020204" pitchFamily="34" charset="0"/>
              <a:buChar char="•"/>
            </a:pPr>
            <a:r>
              <a:rPr lang="fr-FR" dirty="0">
                <a:solidFill>
                  <a:schemeClr val="accent6"/>
                </a:solidFill>
                <a:latin typeface="Tisa Offc Serif Pro "/>
              </a:rPr>
              <a:t>Serveur embarqué : </a:t>
            </a:r>
            <a:r>
              <a:rPr lang="fr-FR" dirty="0">
                <a:latin typeface="Tisa Offc Serif Pro "/>
              </a:rPr>
              <a:t>Spring Boot inclut un serveur web (Tomcat, </a:t>
            </a:r>
            <a:r>
              <a:rPr lang="fr-FR" dirty="0" err="1">
                <a:latin typeface="Tisa Offc Serif Pro "/>
              </a:rPr>
              <a:t>Jetty</a:t>
            </a:r>
            <a:r>
              <a:rPr lang="fr-FR" dirty="0">
                <a:latin typeface="Tisa Offc Serif Pro "/>
              </a:rPr>
              <a:t>, etc.), ce qui te permet de déployer ton application sans avoir à configurer un serveur externe.</a:t>
            </a:r>
          </a:p>
        </p:txBody>
      </p:sp>
      <p:sp>
        <p:nvSpPr>
          <p:cNvPr id="3" name="Espace réservé du numéro de diapositive 2">
            <a:extLst>
              <a:ext uri="{FF2B5EF4-FFF2-40B4-BE49-F238E27FC236}">
                <a16:creationId xmlns:a16="http://schemas.microsoft.com/office/drawing/2014/main" id="{71592F51-55CE-19DC-B632-AD19560BA9D1}"/>
              </a:ext>
            </a:extLst>
          </p:cNvPr>
          <p:cNvSpPr>
            <a:spLocks noGrp="1"/>
          </p:cNvSpPr>
          <p:nvPr>
            <p:ph type="sldNum" sz="quarter" idx="15"/>
          </p:nvPr>
        </p:nvSpPr>
        <p:spPr/>
        <p:txBody>
          <a:bodyPr rtlCol="0"/>
          <a:lstStyle>
            <a:defPPr>
              <a:defRPr lang="fr-FR"/>
            </a:defPPr>
          </a:lstStyle>
          <a:p>
            <a:pPr rtl="0"/>
            <a:fld id="{18D65601-5AE2-46FC-B138-694DDD2B510D}" type="slidenum">
              <a:rPr lang="fr-FR" smtClean="0"/>
              <a:pPr rtl="0"/>
              <a:t>15</a:t>
            </a:fld>
            <a:endParaRPr lang="fr-FR" dirty="0"/>
          </a:p>
        </p:txBody>
      </p:sp>
    </p:spTree>
    <p:extLst>
      <p:ext uri="{BB962C8B-B14F-4D97-AF65-F5344CB8AC3E}">
        <p14:creationId xmlns:p14="http://schemas.microsoft.com/office/powerpoint/2010/main" val="22245466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500"/>
                                        <p:tgtEl>
                                          <p:spTgt spid="2">
                                            <p:txEl>
                                              <p:pRg st="0" end="0"/>
                                            </p:txEl>
                                          </p:spTgt>
                                        </p:tgtEl>
                                      </p:cBhvr>
                                    </p:animEffect>
                                  </p:childTnLst>
                                </p:cTn>
                              </p:par>
                            </p:childTnLst>
                          </p:cTn>
                        </p:par>
                        <p:par>
                          <p:cTn id="8" fill="hold">
                            <p:stCondLst>
                              <p:cond delay="1500"/>
                            </p:stCondLst>
                            <p:childTnLst>
                              <p:par>
                                <p:cTn id="9" presetID="10" presetClass="entr" presetSubtype="0"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fade">
                                      <p:cBhvr>
                                        <p:cTn id="11" dur="1500"/>
                                        <p:tgtEl>
                                          <p:spTgt spid="2">
                                            <p:txEl>
                                              <p:pRg st="1" end="1"/>
                                            </p:txEl>
                                          </p:spTgt>
                                        </p:tgtEl>
                                      </p:cBhvr>
                                    </p:animEffect>
                                  </p:childTnLst>
                                </p:cTn>
                              </p:par>
                            </p:childTnLst>
                          </p:cTn>
                        </p:par>
                        <p:par>
                          <p:cTn id="12" fill="hold">
                            <p:stCondLst>
                              <p:cond delay="3000"/>
                            </p:stCondLst>
                            <p:childTnLst>
                              <p:par>
                                <p:cTn id="13" presetID="10" presetClass="entr" presetSubtype="0"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500"/>
                                        <p:tgtEl>
                                          <p:spTgt spid="2">
                                            <p:txEl>
                                              <p:pRg st="2" end="2"/>
                                            </p:txEl>
                                          </p:spTgt>
                                        </p:tgtEl>
                                      </p:cBhvr>
                                    </p:animEffect>
                                  </p:childTnLst>
                                </p:cTn>
                              </p:par>
                            </p:childTnLst>
                          </p:cTn>
                        </p:par>
                        <p:par>
                          <p:cTn id="16" fill="hold">
                            <p:stCondLst>
                              <p:cond delay="4500"/>
                            </p:stCondLst>
                            <p:childTnLst>
                              <p:par>
                                <p:cTn id="17" presetID="10" presetClass="entr" presetSubtype="0"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4C0FEFBF-60FD-0161-6F6E-89EE39389CEE}"/>
              </a:ext>
            </a:extLst>
          </p:cNvPr>
          <p:cNvSpPr>
            <a:spLocks noGrp="1"/>
          </p:cNvSpPr>
          <p:nvPr>
            <p:ph type="title"/>
          </p:nvPr>
        </p:nvSpPr>
        <p:spPr>
          <a:xfrm>
            <a:off x="1353827" y="3508311"/>
            <a:ext cx="9923770" cy="1438762"/>
          </a:xfrm>
        </p:spPr>
        <p:txBody>
          <a:bodyPr rtlCol="0"/>
          <a:lstStyle>
            <a:defPPr>
              <a:defRPr lang="fr-FR"/>
            </a:defPPr>
          </a:lstStyle>
          <a:p>
            <a:pPr rtl="0"/>
            <a:r>
              <a:rPr lang="fr-FR" dirty="0"/>
              <a:t>Différences entre Spring et Spring Boot</a:t>
            </a:r>
          </a:p>
        </p:txBody>
      </p:sp>
      <p:pic>
        <p:nvPicPr>
          <p:cNvPr id="21" name="Espace réservé pour une image  20" descr="Une image contenant texte, Police, logo, capture d’écran&#10;&#10;Description générée automatiquement">
            <a:extLst>
              <a:ext uri="{FF2B5EF4-FFF2-40B4-BE49-F238E27FC236}">
                <a16:creationId xmlns:a16="http://schemas.microsoft.com/office/drawing/2014/main" id="{AC8CFEBA-D0E3-A77E-2CC1-E291B57F9E9D}"/>
              </a:ext>
            </a:extLst>
          </p:cNvPr>
          <p:cNvPicPr>
            <a:picLocks noGrp="1" noChangeAspect="1"/>
          </p:cNvPicPr>
          <p:nvPr>
            <p:ph type="pic" sz="quarter" idx="13"/>
          </p:nvPr>
        </p:nvPicPr>
        <p:blipFill>
          <a:blip r:embed="rId3"/>
          <a:srcRect t="5411" b="5411"/>
          <a:stretch>
            <a:fillRect/>
          </a:stretch>
        </p:blipFill>
        <p:spPr/>
      </p:pic>
    </p:spTree>
    <p:extLst>
      <p:ext uri="{BB962C8B-B14F-4D97-AF65-F5344CB8AC3E}">
        <p14:creationId xmlns:p14="http://schemas.microsoft.com/office/powerpoint/2010/main" val="217729105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412565C-2C24-E254-B8F7-ED1B52D12C32}"/>
              </a:ext>
            </a:extLst>
          </p:cNvPr>
          <p:cNvSpPr>
            <a:spLocks noGrp="1"/>
          </p:cNvSpPr>
          <p:nvPr>
            <p:ph sz="quarter" idx="10"/>
          </p:nvPr>
        </p:nvSpPr>
        <p:spPr>
          <a:xfrm>
            <a:off x="1468813" y="1110343"/>
            <a:ext cx="9072913" cy="4823926"/>
          </a:xfrm>
        </p:spPr>
        <p:txBody>
          <a:bodyPr>
            <a:normAutofit fontScale="85000" lnSpcReduction="10000"/>
          </a:bodyPr>
          <a:lstStyle/>
          <a:p>
            <a:pPr marL="0" indent="0">
              <a:buNone/>
            </a:pPr>
            <a:r>
              <a:rPr lang="fr-FR" dirty="0">
                <a:solidFill>
                  <a:schemeClr val="accent6"/>
                </a:solidFill>
                <a:latin typeface="Tisa Offc Serif Pro "/>
              </a:rPr>
              <a:t>Configuration </a:t>
            </a:r>
          </a:p>
          <a:p>
            <a:r>
              <a:rPr lang="fr-FR" dirty="0">
                <a:latin typeface="Tisa Offc Serif Pro "/>
              </a:rPr>
              <a:t>Spring : Nécessite une configuration manuelle importante, souvent via des fichiers XML.</a:t>
            </a:r>
          </a:p>
          <a:p>
            <a:r>
              <a:rPr lang="fr-FR" dirty="0">
                <a:latin typeface="Tisa Offc Serif Pro "/>
              </a:rPr>
              <a:t>Spring Boot : Offre une configuration automatique basée sur les dépendances présentes dans le projet.</a:t>
            </a:r>
          </a:p>
          <a:p>
            <a:pPr marL="0" indent="0">
              <a:buNone/>
            </a:pPr>
            <a:r>
              <a:rPr lang="fr-FR" dirty="0">
                <a:solidFill>
                  <a:schemeClr val="accent6"/>
                </a:solidFill>
                <a:latin typeface="Tisa Offc Serif Pro "/>
              </a:rPr>
              <a:t>Complexité </a:t>
            </a:r>
          </a:p>
          <a:p>
            <a:r>
              <a:rPr lang="fr-FR" dirty="0">
                <a:latin typeface="Tisa Offc Serif Pro "/>
              </a:rPr>
              <a:t>Spring : Peut-être complexe à configurer et à utiliser, surtout pour les débutants.</a:t>
            </a:r>
          </a:p>
          <a:p>
            <a:r>
              <a:rPr lang="fr-FR" dirty="0">
                <a:latin typeface="Tisa Offc Serif Pro "/>
              </a:rPr>
              <a:t>Spring Boot : Simplifie le développement d'applications Spring en réduisant la configuration et en offrant des fonctionnalités prêtes à l'emploi.</a:t>
            </a:r>
          </a:p>
          <a:p>
            <a:pPr marL="0" indent="0">
              <a:buNone/>
            </a:pPr>
            <a:r>
              <a:rPr lang="fr-FR" dirty="0">
                <a:solidFill>
                  <a:schemeClr val="accent6"/>
                </a:solidFill>
                <a:latin typeface="Tisa Offc Serif Pro "/>
              </a:rPr>
              <a:t>Productivité </a:t>
            </a:r>
          </a:p>
          <a:p>
            <a:r>
              <a:rPr lang="fr-FR" dirty="0">
                <a:latin typeface="Tisa Offc Serif Pro "/>
              </a:rPr>
              <a:t>Spring : Peut-être moins productif en raison de la configuration manuelle et de la complexité.</a:t>
            </a:r>
          </a:p>
          <a:p>
            <a:r>
              <a:rPr lang="fr-FR" dirty="0">
                <a:latin typeface="Tisa Offc Serif Pro "/>
              </a:rPr>
              <a:t>Spring Boot : Augmente la productivité en automatisant de nombreuses tâches et en facilitant le développement.</a:t>
            </a:r>
          </a:p>
        </p:txBody>
      </p:sp>
      <p:sp>
        <p:nvSpPr>
          <p:cNvPr id="5" name="Espace réservé du numéro de diapositive 4">
            <a:extLst>
              <a:ext uri="{FF2B5EF4-FFF2-40B4-BE49-F238E27FC236}">
                <a16:creationId xmlns:a16="http://schemas.microsoft.com/office/drawing/2014/main" id="{E4EED245-4612-BF72-9185-FF80885C905E}"/>
              </a:ext>
            </a:extLst>
          </p:cNvPr>
          <p:cNvSpPr>
            <a:spLocks noGrp="1"/>
          </p:cNvSpPr>
          <p:nvPr>
            <p:ph type="sldNum" sz="quarter" idx="15"/>
          </p:nvPr>
        </p:nvSpPr>
        <p:spPr/>
        <p:txBody>
          <a:bodyPr/>
          <a:lstStyle/>
          <a:p>
            <a:pPr rtl="0"/>
            <a:fld id="{18D65601-5AE2-46FC-B138-694DDD2B510D}" type="slidenum">
              <a:rPr lang="fr-FR" smtClean="0"/>
              <a:pPr rtl="0"/>
              <a:t>17</a:t>
            </a:fld>
            <a:endParaRPr lang="fr-FR" dirty="0"/>
          </a:p>
        </p:txBody>
      </p:sp>
    </p:spTree>
    <p:extLst>
      <p:ext uri="{BB962C8B-B14F-4D97-AF65-F5344CB8AC3E}">
        <p14:creationId xmlns:p14="http://schemas.microsoft.com/office/powerpoint/2010/main" val="199452002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000"/>
                                        <p:tgtEl>
                                          <p:spTgt spid="3">
                                            <p:txEl>
                                              <p:pRg st="3" end="3"/>
                                            </p:txEl>
                                          </p:spTgt>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1000"/>
                                        <p:tgtEl>
                                          <p:spTgt spid="3">
                                            <p:txEl>
                                              <p:pRg st="6" end="6"/>
                                            </p:txEl>
                                          </p:spTgt>
                                        </p:tgtEl>
                                      </p:cBhvr>
                                    </p:animEffect>
                                  </p:childTnLst>
                                </p:cTn>
                              </p:par>
                              <p:par>
                                <p:cTn id="26" presetID="10" presetClass="entr" presetSubtype="0" fill="hold" grpId="0" nodeType="withEffect">
                                  <p:stCondLst>
                                    <p:cond delay="25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89D0E47E-D228-15EB-5886-33E9AA181D03}"/>
              </a:ext>
            </a:extLst>
          </p:cNvPr>
          <p:cNvSpPr>
            <a:spLocks noGrp="1"/>
          </p:cNvSpPr>
          <p:nvPr>
            <p:ph type="title"/>
          </p:nvPr>
        </p:nvSpPr>
        <p:spPr>
          <a:xfrm>
            <a:off x="1468815" y="503852"/>
            <a:ext cx="9150675" cy="1427585"/>
          </a:xfrm>
        </p:spPr>
        <p:txBody>
          <a:bodyPr rtlCol="0" anchor="ctr">
            <a:normAutofit/>
          </a:bodyPr>
          <a:lstStyle>
            <a:defPPr>
              <a:defRPr lang="fr-FR"/>
            </a:defPPr>
          </a:lstStyle>
          <a:p>
            <a:pPr rtl="0"/>
            <a:r>
              <a:rPr lang="fr-FR" dirty="0"/>
              <a:t>Conception</a:t>
            </a:r>
          </a:p>
        </p:txBody>
      </p:sp>
      <p:pic>
        <p:nvPicPr>
          <p:cNvPr id="4" name="Image 3" descr="Une image contenant capture d’écran, Graphique, graphisme, dessin humoristique">
            <a:extLst>
              <a:ext uri="{FF2B5EF4-FFF2-40B4-BE49-F238E27FC236}">
                <a16:creationId xmlns:a16="http://schemas.microsoft.com/office/drawing/2014/main" id="{F1A9589E-C9B8-8E6F-BB5E-257EAAA81059}"/>
              </a:ext>
            </a:extLst>
          </p:cNvPr>
          <p:cNvPicPr>
            <a:picLocks noChangeAspect="1"/>
          </p:cNvPicPr>
          <p:nvPr/>
        </p:nvPicPr>
        <p:blipFill>
          <a:blip r:embed="rId3"/>
          <a:srcRect t="18848" r="2" b="14714"/>
          <a:stretch/>
        </p:blipFill>
        <p:spPr>
          <a:xfrm>
            <a:off x="1450153" y="2108722"/>
            <a:ext cx="8552264" cy="4119463"/>
          </a:xfrm>
          <a:prstGeom prst="rect">
            <a:avLst/>
          </a:prstGeom>
          <a:noFill/>
        </p:spPr>
      </p:pic>
      <p:sp>
        <p:nvSpPr>
          <p:cNvPr id="9" name="Slide Number Placeholder 3">
            <a:extLst>
              <a:ext uri="{FF2B5EF4-FFF2-40B4-BE49-F238E27FC236}">
                <a16:creationId xmlns:a16="http://schemas.microsoft.com/office/drawing/2014/main" id="{C7F72780-91E5-38D3-8BA8-D58F28FA4BF7}"/>
              </a:ext>
            </a:extLst>
          </p:cNvPr>
          <p:cNvSpPr>
            <a:spLocks noGrp="1"/>
          </p:cNvSpPr>
          <p:nvPr>
            <p:ph type="sldNum" sz="quarter" idx="15"/>
          </p:nvPr>
        </p:nvSpPr>
        <p:spPr>
          <a:xfrm>
            <a:off x="412136" y="5943601"/>
            <a:ext cx="968983" cy="651912"/>
          </a:xfrm>
        </p:spPr>
        <p:txBody>
          <a:bodyPr/>
          <a:lstStyle/>
          <a:p>
            <a:pPr rtl="0">
              <a:spcAft>
                <a:spcPts val="600"/>
              </a:spcAft>
            </a:pPr>
            <a:fld id="{18D65601-5AE2-46FC-B138-694DDD2B510D}" type="slidenum">
              <a:rPr lang="fr-FR" smtClean="0"/>
              <a:pPr rtl="0">
                <a:spcAft>
                  <a:spcPts val="600"/>
                </a:spcAft>
              </a:pPr>
              <a:t>18</a:t>
            </a:fld>
            <a:endParaRPr lang="fr-FR"/>
          </a:p>
        </p:txBody>
      </p:sp>
    </p:spTree>
    <p:extLst>
      <p:ext uri="{BB962C8B-B14F-4D97-AF65-F5344CB8AC3E}">
        <p14:creationId xmlns:p14="http://schemas.microsoft.com/office/powerpoint/2010/main" val="483867127"/>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a:extLst>
              <a:ext uri="{FF2B5EF4-FFF2-40B4-BE49-F238E27FC236}">
                <a16:creationId xmlns:a16="http://schemas.microsoft.com/office/drawing/2014/main" id="{CB1A6FDE-C4FF-8816-9A4D-93CBFD37BE2E}"/>
              </a:ext>
            </a:extLst>
          </p:cNvPr>
          <p:cNvSpPr>
            <a:spLocks noGrp="1"/>
          </p:cNvSpPr>
          <p:nvPr>
            <p:ph sz="quarter" idx="11"/>
          </p:nvPr>
        </p:nvSpPr>
        <p:spPr>
          <a:xfrm>
            <a:off x="1537873" y="1031967"/>
            <a:ext cx="10049673" cy="5102910"/>
          </a:xfrm>
        </p:spPr>
        <p:txBody>
          <a:bodyPr>
            <a:normAutofit lnSpcReduction="10000"/>
          </a:bodyPr>
          <a:lstStyle/>
          <a:p>
            <a:r>
              <a:rPr lang="fr-FR" dirty="0">
                <a:latin typeface="Tisa Offc Serif Pro "/>
              </a:rPr>
              <a:t>La phase de conception du système de gestion de location d’appartements a été structurée autour d’une approche modulaire et orientée objet, permettant de répondre efficacement aux besoins fonctionnels et non fonctionnels identifiés. Le modèle conceptuel s’appuie sur une architecture multi-acteurs, intégrant les rôles clés tels que propriétaires, locataires, administrateurs, prestataires, agents immobiliers, syndics et services comptables. </a:t>
            </a:r>
          </a:p>
          <a:p>
            <a:r>
              <a:rPr lang="fr-FR" dirty="0">
                <a:latin typeface="Tisa Offc Serif Pro "/>
              </a:rPr>
              <a:t>Chaque entité métier a été modélisée via des diagrammes de classes détaillés, définissant clairement les attributs, les relations et les responsabilités. Les interactions entre utilisateurs et système ont été formalisées à travers des diagrammes de cas d’utilisation et de séquence, garantissant une compréhension précise des flux fonctionnels.</a:t>
            </a:r>
          </a:p>
          <a:p>
            <a:r>
              <a:rPr lang="fr-FR" dirty="0">
                <a:latin typeface="Tisa Offc Serif Pro "/>
              </a:rPr>
              <a:t>Par ailleurs, la conception intègre des mécanismes de sécurité, d’authentification et de gestion des droits d’accès, assurant la confidentialité et l’intégrité des données. Enfin, la modularité du système facilite son évolutivité et sa maintenance, tout en permettant une intégration fluide des fonctionnalités spécifiques telles que la tarification saisonnière, la gestion des tâches prestataires, et la communication interne.</a:t>
            </a:r>
          </a:p>
        </p:txBody>
      </p:sp>
      <p:sp>
        <p:nvSpPr>
          <p:cNvPr id="5" name="Espace réservé du numéro de diapositive 4">
            <a:extLst>
              <a:ext uri="{FF2B5EF4-FFF2-40B4-BE49-F238E27FC236}">
                <a16:creationId xmlns:a16="http://schemas.microsoft.com/office/drawing/2014/main" id="{30CA30FF-4837-5794-C47F-B6F563CCD750}"/>
              </a:ext>
            </a:extLst>
          </p:cNvPr>
          <p:cNvSpPr>
            <a:spLocks noGrp="1"/>
          </p:cNvSpPr>
          <p:nvPr>
            <p:ph type="sldNum" sz="quarter" idx="15"/>
          </p:nvPr>
        </p:nvSpPr>
        <p:spPr/>
        <p:txBody>
          <a:bodyPr/>
          <a:lstStyle/>
          <a:p>
            <a:pPr rtl="0"/>
            <a:fld id="{18D65601-5AE2-46FC-B138-694DDD2B510D}" type="slidenum">
              <a:rPr lang="fr-FR" smtClean="0"/>
              <a:pPr rtl="0"/>
              <a:t>19</a:t>
            </a:fld>
            <a:endParaRPr lang="fr-FR" dirty="0"/>
          </a:p>
        </p:txBody>
      </p:sp>
    </p:spTree>
    <p:extLst>
      <p:ext uri="{BB962C8B-B14F-4D97-AF65-F5344CB8AC3E}">
        <p14:creationId xmlns:p14="http://schemas.microsoft.com/office/powerpoint/2010/main" val="34517006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5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250"/>
                                        <p:tgtEl>
                                          <p:spTgt spid="4">
                                            <p:txEl>
                                              <p:pRg st="0" end="0"/>
                                            </p:txEl>
                                          </p:spTgt>
                                        </p:tgtEl>
                                      </p:cBhvr>
                                    </p:animEffect>
                                  </p:childTnLst>
                                </p:cTn>
                              </p:par>
                            </p:childTnLst>
                          </p:cTn>
                        </p:par>
                        <p:par>
                          <p:cTn id="8" fill="hold">
                            <p:stCondLst>
                              <p:cond delay="4500"/>
                            </p:stCondLst>
                            <p:childTnLst>
                              <p:par>
                                <p:cTn id="9" presetID="10" presetClass="entr" presetSubtype="0" fill="hold" grpId="0" nodeType="afterEffect">
                                  <p:stCondLst>
                                    <p:cond delay="25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fade">
                                      <p:cBhvr>
                                        <p:cTn id="11" dur="4250"/>
                                        <p:tgtEl>
                                          <p:spTgt spid="4">
                                            <p:txEl>
                                              <p:pRg st="1" end="1"/>
                                            </p:txEl>
                                          </p:spTgt>
                                        </p:tgtEl>
                                      </p:cBhvr>
                                    </p:animEffect>
                                  </p:childTnLst>
                                </p:cTn>
                              </p:par>
                            </p:childTnLst>
                          </p:cTn>
                        </p:par>
                        <p:par>
                          <p:cTn id="12" fill="hold">
                            <p:stCondLst>
                              <p:cond delay="9000"/>
                            </p:stCondLst>
                            <p:childTnLst>
                              <p:par>
                                <p:cTn id="13" presetID="10" presetClass="entr" presetSubtype="0" fill="hold" grpId="0" nodeType="afterEffect">
                                  <p:stCondLst>
                                    <p:cond delay="25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425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C76422-DDB3-79A9-5089-B297E4427E6F}"/>
              </a:ext>
            </a:extLst>
          </p:cNvPr>
          <p:cNvSpPr>
            <a:spLocks noGrp="1"/>
          </p:cNvSpPr>
          <p:nvPr>
            <p:ph type="title"/>
          </p:nvPr>
        </p:nvSpPr>
        <p:spPr>
          <a:xfrm>
            <a:off x="1038031" y="1068169"/>
            <a:ext cx="10115939" cy="1400711"/>
          </a:xfrm>
        </p:spPr>
        <p:txBody>
          <a:bodyPr/>
          <a:lstStyle/>
          <a:p>
            <a:r>
              <a:rPr lang="fr-FR" dirty="0"/>
              <a:t>Conclusion</a:t>
            </a:r>
          </a:p>
        </p:txBody>
      </p:sp>
      <p:sp>
        <p:nvSpPr>
          <p:cNvPr id="3" name="Espace réservé du texte 2">
            <a:extLst>
              <a:ext uri="{FF2B5EF4-FFF2-40B4-BE49-F238E27FC236}">
                <a16:creationId xmlns:a16="http://schemas.microsoft.com/office/drawing/2014/main" id="{936D1D0E-A840-0DEF-7CED-1842F85E5369}"/>
              </a:ext>
            </a:extLst>
          </p:cNvPr>
          <p:cNvSpPr>
            <a:spLocks noGrp="1"/>
          </p:cNvSpPr>
          <p:nvPr>
            <p:ph type="body" sz="quarter" idx="12"/>
          </p:nvPr>
        </p:nvSpPr>
        <p:spPr>
          <a:xfrm>
            <a:off x="1240971" y="2978331"/>
            <a:ext cx="9912999" cy="2811499"/>
          </a:xfrm>
        </p:spPr>
        <p:txBody>
          <a:bodyPr/>
          <a:lstStyle/>
          <a:p>
            <a:pPr algn="l"/>
            <a:r>
              <a:rPr lang="fr-FR" dirty="0">
                <a:latin typeface="Tisa Offc Serif Pro "/>
              </a:rPr>
              <a:t>En offrant ces fonctionnalités, mon système permet aux propriétaires de gagner du temps, d'optimiser leurs revenus et d'améliorer la satisfaction de leurs locataires. Pour les locataires, il offre une expérience de recherche et de réservation plus simple, plus transparente et plus agréable.</a:t>
            </a:r>
          </a:p>
          <a:p>
            <a:pPr algn="l"/>
            <a:endParaRPr lang="fr-FR" dirty="0">
              <a:latin typeface="Tisa Offc Serif Pro "/>
            </a:endParaRPr>
          </a:p>
          <a:p>
            <a:pPr algn="l"/>
            <a:r>
              <a:rPr lang="fr-FR" dirty="0">
                <a:latin typeface="Tisa Offc Serif Pro "/>
              </a:rPr>
              <a:t>En résumé, Java est un langage fiable, performant, portable et évolutif, avec un large écosystème et une communauté importante. Il est parfaitement adapté au développement d'applications d'entreprise comme ton système de gestion de location d'appartements.</a:t>
            </a:r>
          </a:p>
          <a:p>
            <a:pPr algn="l"/>
            <a:endParaRPr lang="fr-FR" dirty="0">
              <a:latin typeface="Tisa Offc Serif Pro "/>
            </a:endParaRPr>
          </a:p>
        </p:txBody>
      </p:sp>
    </p:spTree>
    <p:extLst>
      <p:ext uri="{BB962C8B-B14F-4D97-AF65-F5344CB8AC3E}">
        <p14:creationId xmlns:p14="http://schemas.microsoft.com/office/powerpoint/2010/main" val="49998987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F101732C-7338-DBA0-BD19-1FA88304749F}"/>
              </a:ext>
            </a:extLst>
          </p:cNvPr>
          <p:cNvSpPr>
            <a:spLocks noGrp="1"/>
          </p:cNvSpPr>
          <p:nvPr>
            <p:ph type="title"/>
          </p:nvPr>
        </p:nvSpPr>
        <p:spPr>
          <a:xfrm>
            <a:off x="1317614" y="690511"/>
            <a:ext cx="3778169" cy="5253089"/>
          </a:xfrm>
        </p:spPr>
        <p:txBody>
          <a:bodyPr rtlCol="0"/>
          <a:lstStyle>
            <a:defPPr>
              <a:defRPr lang="fr-FR"/>
            </a:defPPr>
          </a:lstStyle>
          <a:p>
            <a:pPr rtl="0"/>
            <a:r>
              <a:rPr lang="fr-FR" dirty="0"/>
              <a:t>Merci</a:t>
            </a:r>
          </a:p>
        </p:txBody>
      </p:sp>
    </p:spTree>
    <p:extLst>
      <p:ext uri="{BB962C8B-B14F-4D97-AF65-F5344CB8AC3E}">
        <p14:creationId xmlns:p14="http://schemas.microsoft.com/office/powerpoint/2010/main" val="70437084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Personnalisé">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Tisa Offc Serif Pro"/>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28_TF78544816_Win32" id="{92BE2C3D-300F-4B9F-910D-D2787EDDC4E0}" vid="{8BF88667-91EE-4F49-BD92-7DB8827BD33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2.xml><?xml version="1.0" encoding="utf-8"?>
<ds:datastoreItem xmlns:ds="http://schemas.openxmlformats.org/officeDocument/2006/customXml" ds:itemID="{3FDB7358-0BCB-4DEB-B717-C1D7CC555F0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de conférence moderne</Template>
  <TotalTime>89</TotalTime>
  <Words>1434</Words>
  <Application>Microsoft Office PowerPoint</Application>
  <PresentationFormat>Grand écran</PresentationFormat>
  <Paragraphs>114</Paragraphs>
  <Slides>21</Slides>
  <Notes>16</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21</vt:i4>
      </vt:variant>
    </vt:vector>
  </HeadingPairs>
  <TitlesOfParts>
    <vt:vector size="28" baseType="lpstr">
      <vt:lpstr>Arial</vt:lpstr>
      <vt:lpstr>Calibri</vt:lpstr>
      <vt:lpstr>Tisa Offc Serif Pro</vt:lpstr>
      <vt:lpstr>Tisa Offc Serif Pro </vt:lpstr>
      <vt:lpstr>Tisa Offc Serif Pro (En-têtes)</vt:lpstr>
      <vt:lpstr>Univers Light</vt:lpstr>
      <vt:lpstr>Personnalisé</vt:lpstr>
      <vt:lpstr>Système de Gestion de Location d'Appartements</vt:lpstr>
      <vt:lpstr>Ordre du jour</vt:lpstr>
      <vt:lpstr>Introduction</vt:lpstr>
      <vt:lpstr>Problématique</vt:lpstr>
      <vt:lpstr>Présentation PowerPoint</vt:lpstr>
      <vt:lpstr>Solution proposée</vt:lpstr>
      <vt:lpstr>Présentation PowerPoint</vt:lpstr>
      <vt:lpstr>Aspects techniques</vt:lpstr>
      <vt:lpstr>Présentation PowerPoint</vt:lpstr>
      <vt:lpstr>Présentation PowerPoint</vt:lpstr>
      <vt:lpstr>Pourquoi Java?</vt:lpstr>
      <vt:lpstr>Pourquoi Angular ?</vt:lpstr>
      <vt:lpstr>Qu'est-ce que Spring Boot ?</vt:lpstr>
      <vt:lpstr>Spring Boot est un framework Java qui simplifie considérablement le développement d'applications Spring. Il prend en charge la configuration automatique, l'intégration facile des dépendances et embarque un serveur web, ce qui facilite le déploiement. Spring Boot permet aux développeurs de se concentrer sur la logique métier de leurs applications plutôt que sur la configuration fastidieuse.</vt:lpstr>
      <vt:lpstr>Pourquoi utiliser Spring Boot ?</vt:lpstr>
      <vt:lpstr>Différences entre Spring et Spring Boot</vt:lpstr>
      <vt:lpstr>Présentation PowerPoint</vt:lpstr>
      <vt:lpstr>Conception</vt:lpstr>
      <vt:lpstr>Présentation PowerPoint</vt:lpstr>
      <vt:lpstr>Conclusion</vt:lpstr>
      <vt:lpstr>Merci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Système de Gestion de Location d'Appartements</dc:title>
  <dc:creator>Achraf Aitlahcen</dc:creator>
  <cp:lastModifiedBy>Achraf Aitlahcen</cp:lastModifiedBy>
  <cp:revision>7</cp:revision>
  <dcterms:created xsi:type="dcterms:W3CDTF">2025-04-25T18:33:54Z</dcterms:created>
  <dcterms:modified xsi:type="dcterms:W3CDTF">2025-04-25T20:05:24Z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